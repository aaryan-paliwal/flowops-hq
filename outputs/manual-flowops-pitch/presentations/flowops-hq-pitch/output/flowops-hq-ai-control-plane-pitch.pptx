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1990b2d1d9463e" /><Relationship Type="http://schemas.openxmlformats.org/officeDocument/2006/relationships/extended-properties" Target="/docProps/app.xml" Id="R3910bb8157554a3a" /><Relationship Type="http://schemas.openxmlformats.org/officeDocument/2006/relationships/officeDocument" Target="/ppt/presentation.xml" Id="R1626be1e42b843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487a14b99844f0d"/>
  </p:sldMasterIdLst>
  <p:notesMasterIdLst>
    <p:notesMasterId xmlns:r="http://schemas.openxmlformats.org/officeDocument/2006/relationships" r:id="R944fee0fd07145ad"/>
  </p:notesMasterIdLst>
  <p:sldIdLst>
    <p:sldId xmlns:r="http://schemas.openxmlformats.org/officeDocument/2006/relationships" id="256" r:id="R7bf956fcd6d04e8b"/>
    <p:sldId xmlns:r="http://schemas.openxmlformats.org/officeDocument/2006/relationships" id="257" r:id="Rfa7b7eb7f1794a36"/>
    <p:sldId xmlns:r="http://schemas.openxmlformats.org/officeDocument/2006/relationships" id="258" r:id="R24fd3f9548094be1"/>
    <p:sldId xmlns:r="http://schemas.openxmlformats.org/officeDocument/2006/relationships" id="259" r:id="Rbec68814784e475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87a14b99844f0d" /><Relationship Type="http://schemas.openxmlformats.org/officeDocument/2006/relationships/theme" Target="/ppt/theme/theme1.xml" Id="Rb2753fc7b3d246c5" /><Relationship Type="http://schemas.openxmlformats.org/officeDocument/2006/relationships/notesMaster" Target="/ppt/notesMasters/notesMaster1.xml" Id="R944fee0fd07145ad" /><Relationship Type="http://schemas.openxmlformats.org/officeDocument/2006/relationships/presProps" Target="/ppt/presProps.xml" Id="Rf61dcb583f9b472e" /><Relationship Type="http://schemas.openxmlformats.org/officeDocument/2006/relationships/viewProps" Target="/ppt/viewProps.xml" Id="R9f6bdb4f5b2f4c1c" /><Relationship Type="http://schemas.openxmlformats.org/officeDocument/2006/relationships/tableStyles" Target="/ppt/tableStyles.xml" Id="R70716ee5a55b42b2" /><Relationship Type="http://schemas.openxmlformats.org/officeDocument/2006/relationships/slide" Target="/ppt/slides/slide1.xml" Id="R7bf956fcd6d04e8b" /><Relationship Type="http://schemas.openxmlformats.org/officeDocument/2006/relationships/slide" Target="/ppt/slides/slide2.xml" Id="Rfa7b7eb7f1794a36" /><Relationship Type="http://schemas.openxmlformats.org/officeDocument/2006/relationships/slide" Target="/ppt/slides/slide3.xml" Id="R24fd3f9548094be1" /><Relationship Type="http://schemas.openxmlformats.org/officeDocument/2006/relationships/slide" Target="/ppt/slides/slide4.xml" Id="Rbec68814784e47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09390df9c494c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9d16c9f5e04ec8" /><Relationship Type="http://schemas.openxmlformats.org/officeDocument/2006/relationships/notesMaster" Target="/ppt/notesMasters/notesMaster1.xml" Id="R4471ddcffb7041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a8af6a14aa41ca" /><Relationship Type="http://schemas.openxmlformats.org/officeDocument/2006/relationships/notesMaster" Target="/ppt/notesMasters/notesMaster1.xml" Id="Rbcfda276b2324a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6081a83c864626" /><Relationship Type="http://schemas.openxmlformats.org/officeDocument/2006/relationships/notesMaster" Target="/ppt/notesMasters/notesMaster1.xml" Id="R4498120a13dc4b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c205d6d35f4973" /><Relationship Type="http://schemas.openxmlformats.org/officeDocument/2006/relationships/notesMaster" Target="/ppt/notesMasters/notesMaster1.xml" Id="R2f879ddc53f944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447076e9564d9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e1d32ed43a04e54" /><Relationship Type="http://schemas.openxmlformats.org/officeDocument/2006/relationships/slideLayout" Target="/ppt/slideLayouts/slideLayout2.xml" Id="Rb93fde4063a04d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3fde4063a04d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1ab4efa36d4014" /><Relationship Type="http://schemas.openxmlformats.org/officeDocument/2006/relationships/notesSlide" Target="/ppt/notesSlides/notesSlide1.xml" Id="R510867fc0c8a4e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e8d9b6546a45b2" /><Relationship Type="http://schemas.openxmlformats.org/officeDocument/2006/relationships/notesSlide" Target="/ppt/notesSlides/notesSlide2.xml" Id="Rd393935acf2a4d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f4607cb2a14007" /><Relationship Type="http://schemas.openxmlformats.org/officeDocument/2006/relationships/notesSlide" Target="/ppt/notesSlides/notesSlide3.xml" Id="R9f9d4e7b62bf4b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1d7a44e0c64636" /><Relationship Type="http://schemas.openxmlformats.org/officeDocument/2006/relationships/notesSlide" Target="/ppt/notesSlides/notesSlide4.xml" Id="R19d2643c9c114da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70CCB7-8178-4A94-94D7-CE7F4251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F"/>
          </a:solidFill>
          <a:ln xmlns:a="http://schemas.openxmlformats.org/drawingml/2006/main" w="9525">
            <a:solidFill>
              <a:srgbClr val="070A0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FC0480-FE11-42DC-8B40-3BFBD096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9525">
            <a:solidFill>
              <a:srgbClr val="FF6B6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A19E53-0812-4042-9063-01A8EB554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72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F"/>
          </a:solidFill>
          <a:ln xmlns:a="http://schemas.openxmlformats.org/drawingml/2006/main" w="0">
            <a:solidFill>
              <a:srgbClr val="070A0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6B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6B6B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BB6765-06D6-4E0E-9DD6-A227BE33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7810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F"/>
          </a:solidFill>
          <a:ln xmlns:a="http://schemas.openxmlformats.org/drawingml/2006/main" w="0">
            <a:solidFill>
              <a:srgbClr val="070A0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AI teams lose money, time, and reliability before they even reach users.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2E3B6E-77DA-4218-AD49-62AAE51E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F"/>
          </a:solidFill>
          <a:ln xmlns:a="http://schemas.openxmlformats.org/drawingml/2006/main" w="0">
            <a:solidFill>
              <a:srgbClr val="070A0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6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6B6B"/>
                </a:solidFill>
                <a:latin typeface="Aptos"/>
                <a:ea typeface="Aptos"/>
                <a:cs typeface="Aptos"/>
              </a:rPr>
              <a:t>Pain point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C9D780-5120-4FB7-9A5D-44C01278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9525">
            <a:solidFill>
              <a:srgbClr val="FF6B6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2678BE-36CC-47B6-9D1C-7977F740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F"/>
          </a:solidFill>
          <a:ln xmlns:a="http://schemas.openxmlformats.org/drawingml/2006/main" w="0">
            <a:solidFill>
              <a:srgbClr val="070A0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Every LLM provider has a different API, pricing model, and failure behavior.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76CE26-FAB0-4FC9-8C0D-7DAAE076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9525">
            <a:solidFill>
              <a:srgbClr val="FF6B6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5C195E-9ACB-4F90-BCC5-AFA4F499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F"/>
          </a:solidFill>
          <a:ln xmlns:a="http://schemas.openxmlformats.org/drawingml/2006/main" w="0">
            <a:solidFill>
              <a:srgbClr val="070A0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API keys, logs, rate limits, and fallback logic are scattered across code and tools.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5F580F-068C-454A-AC14-40852C61A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9525">
            <a:solidFill>
              <a:srgbClr val="FF6B6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66DBFF-482C-4F60-B7E9-5B4882DE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F"/>
          </a:solidFill>
          <a:ln xmlns:a="http://schemas.openxmlformats.org/drawingml/2006/main" w="0">
            <a:solidFill>
              <a:srgbClr val="070A0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Token usage grows silently, so startups discover cost problems after the bill arrives.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7A4E9A-A3D9-45A1-8477-271264FD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9525">
            <a:solidFill>
              <a:srgbClr val="FF6B6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59B062-B7A0-48A2-BCDD-39BEC908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33850"/>
            <a:ext cx="514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F"/>
          </a:solidFill>
          <a:ln xmlns:a="http://schemas.openxmlformats.org/drawingml/2006/main" w="0">
            <a:solidFill>
              <a:srgbClr val="070A0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Small Indian teams need production-grade AI infrastructure without enterprise pricing or setup complexity.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847D27-9AD1-43D1-835B-64EF3137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885950"/>
            <a:ext cx="409575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20"/>
          </a:solidFill>
          <a:ln xmlns:a="http://schemas.openxmlformats.org/drawingml/2006/main" w="9525">
            <a:solidFill>
              <a:srgbClr val="24324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2E4272-96DE-44DC-B241-D234B1969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1526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20"/>
          </a:solidFill>
          <a:ln xmlns:a="http://schemas.openxmlformats.org/drawingml/2006/main" w="0">
            <a:solidFill>
              <a:srgbClr val="0D1520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Current builder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81FE1A-4931-46E6-A39F-CC9C854B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479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F2D"/>
          </a:solidFill>
          <a:ln xmlns:a="http://schemas.openxmlformats.org/drawingml/2006/main" w="9525">
            <a:solidFill>
              <a:srgbClr val="34415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AE5550-DB1A-4A5D-9B60-444C25B1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05100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F2D"/>
          </a:solidFill>
          <a:ln xmlns:a="http://schemas.openxmlformats.org/drawingml/2006/main" w="0">
            <a:solidFill>
              <a:srgbClr val="141F2D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6B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6B6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F46552-FC10-47A1-B50D-2F8BFAAE7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676525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20"/>
          </a:solidFill>
          <a:ln xmlns:a="http://schemas.openxmlformats.org/drawingml/2006/main" w="0">
            <a:solidFill>
              <a:srgbClr val="0D1520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Connect directly to OpenAI / Gemini / Anthropic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B879C2-166F-4854-9953-2435BF26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051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F2D"/>
          </a:solidFill>
          <a:ln xmlns:a="http://schemas.openxmlformats.org/drawingml/2006/main" w="9525">
            <a:solidFill>
              <a:srgbClr val="34415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0B4924-2B92-4B4B-8C48-CE0E4AAA6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62300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F2D"/>
          </a:solidFill>
          <a:ln xmlns:a="http://schemas.openxmlformats.org/drawingml/2006/main" w="0">
            <a:solidFill>
              <a:srgbClr val="141F2D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6B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6B6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871005-7D5B-456B-81E9-7895FA3A8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133725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20"/>
          </a:solidFill>
          <a:ln xmlns:a="http://schemas.openxmlformats.org/drawingml/2006/main" w="0">
            <a:solidFill>
              <a:srgbClr val="0D1520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Hand-roll retry, fallback, logs, and cost checks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3E3268-A8BF-4343-9F81-A4EF8548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623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F2D"/>
          </a:solidFill>
          <a:ln xmlns:a="http://schemas.openxmlformats.org/drawingml/2006/main" w="9525">
            <a:solidFill>
              <a:srgbClr val="344156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E8076A-F932-4A2B-BD30-03AE137C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619500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F2D"/>
          </a:solidFill>
          <a:ln xmlns:a="http://schemas.openxmlformats.org/drawingml/2006/main" w="0">
            <a:solidFill>
              <a:srgbClr val="141F2D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6B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6B6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6FA0D4-0BD5-460A-A210-8096FC1C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590925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20"/>
          </a:solidFill>
          <a:ln xmlns:a="http://schemas.openxmlformats.org/drawingml/2006/main" w="0">
            <a:solidFill>
              <a:srgbClr val="0D1520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Debug failures after users complain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D1E974-762B-4A32-809D-B4305DDA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0195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F2D"/>
          </a:solidFill>
          <a:ln xmlns:a="http://schemas.openxmlformats.org/drawingml/2006/main" w="9525">
            <a:solidFill>
              <a:srgbClr val="34415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1490B8-22B4-4E11-BB4B-8A13E9B4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076700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F2D"/>
          </a:solidFill>
          <a:ln xmlns:a="http://schemas.openxmlformats.org/drawingml/2006/main" w="0">
            <a:solidFill>
              <a:srgbClr val="141F2D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6B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6B6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8A3928-510B-4E09-80D9-68568ED4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048125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20"/>
          </a:solidFill>
          <a:ln xmlns:a="http://schemas.openxmlformats.org/drawingml/2006/main" w="0">
            <a:solidFill>
              <a:srgbClr val="0D1520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Manually optimize prompts when spend spikes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A6CE95-228F-4CF5-A92E-F05E228C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953000"/>
            <a:ext cx="4191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F"/>
          </a:solidFill>
          <a:ln xmlns:a="http://schemas.openxmlformats.org/drawingml/2006/main" w="0">
            <a:solidFill>
              <a:srgbClr val="070A0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Result: slower shipping, weaker reliability, and rising LLM spend.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A36CBC-6C7B-42F8-8AF7-738A6AD43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F"/>
          </a:solidFill>
          <a:ln xmlns:a="http://schemas.openxmlformats.org/drawingml/2006/main" w="0">
            <a:solidFill>
              <a:srgbClr val="070A0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FlowOps HQ | OpenAI x Outskill AI Builders Hackathon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5E3297-B89E-47C4-A0D6-3856EBC6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F"/>
          </a:solidFill>
          <a:ln xmlns:a="http://schemas.openxmlformats.org/drawingml/2006/main" w="0">
            <a:solidFill>
              <a:srgbClr val="070A0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8651024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5E5A77-4232-4E26-BEE0-BA8D75FC0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F"/>
          </a:solidFill>
          <a:ln xmlns:a="http://schemas.openxmlformats.org/drawingml/2006/main" w="9525">
            <a:solidFill>
              <a:srgbClr val="070A0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3D03F7-B427-44A4-81D6-9CF5179B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9F5"/>
          </a:solidFill>
          <a:ln xmlns:a="http://schemas.openxmlformats.org/drawingml/2006/main" w="9525">
            <a:solidFill>
              <a:srgbClr val="42D9F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832080-6A80-4154-A63C-11EEDB5E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72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F"/>
          </a:solidFill>
          <a:ln xmlns:a="http://schemas.openxmlformats.org/drawingml/2006/main" w="0">
            <a:solidFill>
              <a:srgbClr val="070A0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2D9F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2D9F5"/>
                </a:solidFill>
                <a:latin typeface="Aptos"/>
                <a:ea typeface="Aptos"/>
                <a:cs typeface="Aptos"/>
              </a:rPr>
              <a:t>SOLUTION AND JOURNEY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9A4BE2-E986-47F9-AB14-BD3CD340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7810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F"/>
          </a:solidFill>
          <a:ln xmlns:a="http://schemas.openxmlformats.org/drawingml/2006/main" w="0">
            <a:solidFill>
              <a:srgbClr val="070A0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FlowOps HQ gives builders one control plane for LLM traffic.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76A22F-6F06-4701-A8A8-06F03B7A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F"/>
          </a:solidFill>
          <a:ln xmlns:a="http://schemas.openxmlformats.org/drawingml/2006/main" w="0">
            <a:solidFill>
              <a:srgbClr val="070A0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A developer sends one OpenAI-style request. FlowOps handles key validation, prompt optimization, routing, fallback, caching, and observability.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647B63-DBD8-4A31-9F41-EACAB934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16764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20"/>
          </a:solidFill>
          <a:ln xmlns:a="http://schemas.openxmlformats.org/drawingml/2006/main" w="9525">
            <a:solidFill>
              <a:srgbClr val="24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677FA7-9E34-4E19-941D-DFC7E61F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34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20"/>
          </a:solidFill>
          <a:ln xmlns:a="http://schemas.openxmlformats.org/drawingml/2006/main" w="0">
            <a:solidFill>
              <a:srgbClr val="0D1520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0D98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0D98A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A4AC11-2059-49F6-8F4B-76DBFF723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433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20"/>
          </a:solidFill>
          <a:ln xmlns:a="http://schemas.openxmlformats.org/drawingml/2006/main" w="0">
            <a:solidFill>
              <a:srgbClr val="0D1520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Create workspace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5E2CEC-E69C-4499-9481-A821C565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48100"/>
            <a:ext cx="1314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20"/>
          </a:solidFill>
          <a:ln xmlns:a="http://schemas.openxmlformats.org/drawingml/2006/main" w="0">
            <a:solidFill>
              <a:srgbClr val="0D1520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Register app and generate a FlowOps key.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5CA8F1-B1E1-4E64-A46C-C84EB26A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67125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6"/>
          </a:solidFill>
          <a:ln xmlns:a="http://schemas.openxmlformats.org/drawingml/2006/main" w="9525">
            <a:solidFill>
              <a:srgbClr val="26324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64C8C7-357E-451D-92FD-E58D02A4D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609975"/>
            <a:ext cx="95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6"/>
          </a:solidFill>
          <a:ln xmlns:a="http://schemas.openxmlformats.org/drawingml/2006/main" w="9525">
            <a:solidFill>
              <a:srgbClr val="26324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872929-EA1B-4D89-8538-136856C0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09900"/>
            <a:ext cx="16764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20"/>
          </a:solidFill>
          <a:ln xmlns:a="http://schemas.openxmlformats.org/drawingml/2006/main" w="9525">
            <a:solidFill>
              <a:srgbClr val="24324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5837D5-1AAF-45ED-95C5-72953E16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181350"/>
            <a:ext cx="34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20"/>
          </a:solidFill>
          <a:ln xmlns:a="http://schemas.openxmlformats.org/drawingml/2006/main" w="0">
            <a:solidFill>
              <a:srgbClr val="0D1520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0D98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0D98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98AEB3-BC83-4968-BF5F-18BB7EBB9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5433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20"/>
          </a:solidFill>
          <a:ln xmlns:a="http://schemas.openxmlformats.org/drawingml/2006/main" w="0">
            <a:solidFill>
              <a:srgbClr val="0D1520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Send request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E849F0-2B0A-4CE8-A725-2982F4E4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848100"/>
            <a:ext cx="1314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20"/>
          </a:solidFill>
          <a:ln xmlns:a="http://schemas.openxmlformats.org/drawingml/2006/main" w="0">
            <a:solidFill>
              <a:srgbClr val="0D1520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POST /gateway/v1/chat/completions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C9A884-F0D4-4B4A-B597-5D52883B1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67125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6"/>
          </a:solidFill>
          <a:ln xmlns:a="http://schemas.openxmlformats.org/drawingml/2006/main" w="9525">
            <a:solidFill>
              <a:srgbClr val="26324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962881-B985-420A-B367-CB36B5FD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09975"/>
            <a:ext cx="95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6"/>
          </a:solidFill>
          <a:ln xmlns:a="http://schemas.openxmlformats.org/drawingml/2006/main" w="9525">
            <a:solidFill>
              <a:srgbClr val="26324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D08608-98AB-43D3-9EF1-335A1A22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09900"/>
            <a:ext cx="16764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A"/>
          </a:solidFill>
          <a:ln xmlns:a="http://schemas.openxmlformats.org/drawingml/2006/main" w="9525">
            <a:solidFill>
              <a:srgbClr val="42D9F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5646C4-7BBE-40A3-92E8-899F1D00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181350"/>
            <a:ext cx="34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A"/>
          </a:solidFill>
          <a:ln xmlns:a="http://schemas.openxmlformats.org/drawingml/2006/main" w="0">
            <a:solidFill>
              <a:srgbClr val="10253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2D9F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2D9F5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45559D-4775-4CE7-88AF-05D603F67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5433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A"/>
          </a:solidFill>
          <a:ln xmlns:a="http://schemas.openxmlformats.org/drawingml/2006/main" w="0">
            <a:solidFill>
              <a:srgbClr val="10253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Optimize + route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AFCC8A-748A-481B-8EE3-C7423086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848100"/>
            <a:ext cx="1314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3A"/>
          </a:solidFill>
          <a:ln xmlns:a="http://schemas.openxmlformats.org/drawingml/2006/main" w="0">
            <a:solidFill>
              <a:srgbClr val="10253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Compress prompt, pick provider, retry/fallback.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72709F-32E1-4822-A21E-38C7E6949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67125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6"/>
          </a:solidFill>
          <a:ln xmlns:a="http://schemas.openxmlformats.org/drawingml/2006/main" w="9525">
            <a:solidFill>
              <a:srgbClr val="263246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6F32C9-4B82-45F3-99C4-56D49483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609975"/>
            <a:ext cx="95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6"/>
          </a:solidFill>
          <a:ln xmlns:a="http://schemas.openxmlformats.org/drawingml/2006/main" w="9525">
            <a:solidFill>
              <a:srgbClr val="26324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76FECB-C19B-4FD3-8B12-B6E6B64E5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09900"/>
            <a:ext cx="16764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20"/>
          </a:solidFill>
          <a:ln xmlns:a="http://schemas.openxmlformats.org/drawingml/2006/main" w="9525">
            <a:solidFill>
              <a:srgbClr val="24324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7583DE-6AD3-4EAF-92D9-328211DDE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181350"/>
            <a:ext cx="34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20"/>
          </a:solidFill>
          <a:ln xmlns:a="http://schemas.openxmlformats.org/drawingml/2006/main" w="0">
            <a:solidFill>
              <a:srgbClr val="0D1520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0D98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0D98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3EB796-5E0A-4E4B-81D4-BA6B3831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5433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20"/>
          </a:solidFill>
          <a:ln xmlns:a="http://schemas.openxmlformats.org/drawingml/2006/main" w="0">
            <a:solidFill>
              <a:srgbClr val="0D1520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Observe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1F1C16-F8EF-49D0-8DF1-A8866815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848100"/>
            <a:ext cx="1314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20"/>
          </a:solidFill>
          <a:ln xmlns:a="http://schemas.openxmlformats.org/drawingml/2006/main" w="0">
            <a:solidFill>
              <a:srgbClr val="0D1520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Log latency, tokens, errors, model, provider.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7EA59C-850A-455C-8E7D-5773B2F49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667125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6"/>
          </a:solidFill>
          <a:ln xmlns:a="http://schemas.openxmlformats.org/drawingml/2006/main" w="9525">
            <a:solidFill>
              <a:srgbClr val="263246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C2B6A9-209A-4E89-852D-6016A248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09975"/>
            <a:ext cx="95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6"/>
          </a:solidFill>
          <a:ln xmlns:a="http://schemas.openxmlformats.org/drawingml/2006/main" w="9525">
            <a:solidFill>
              <a:srgbClr val="263246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EF10EF-6EF6-4421-9D2C-55698090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009900"/>
            <a:ext cx="16764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20"/>
          </a:solidFill>
          <a:ln xmlns:a="http://schemas.openxmlformats.org/drawingml/2006/main" w="9525">
            <a:solidFill>
              <a:srgbClr val="24324A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680988-2879-43DE-847B-DC702D2D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81350"/>
            <a:ext cx="34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20"/>
          </a:solidFill>
          <a:ln xmlns:a="http://schemas.openxmlformats.org/drawingml/2006/main" w="0">
            <a:solidFill>
              <a:srgbClr val="0D1520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0D98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0D98A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9C7962-6876-4A54-BAF9-8ABF391F6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5433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20"/>
          </a:solidFill>
          <a:ln xmlns:a="http://schemas.openxmlformats.org/drawingml/2006/main" w="0">
            <a:solidFill>
              <a:srgbClr val="0D1520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Improve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396764-77A8-4A27-84C0-D5FEC0F3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848100"/>
            <a:ext cx="1314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20"/>
          </a:solidFill>
          <a:ln xmlns:a="http://schemas.openxmlformats.org/drawingml/2006/main" w="0">
            <a:solidFill>
              <a:srgbClr val="0D1520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Use analytics to reduce cost and improve quality.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6C769B4-7C9E-4592-8786-DB8FF33B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363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18"/>
          </a:solidFill>
          <a:ln xmlns:a="http://schemas.openxmlformats.org/drawingml/2006/main" w="9525">
            <a:solidFill>
              <a:srgbClr val="24324A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6EB5D0-5C3D-4CAE-A945-29ECF3310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81600"/>
            <a:ext cx="1123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18"/>
          </a:solidFill>
          <a:ln xmlns:a="http://schemas.openxmlformats.org/drawingml/2006/main" w="9525">
            <a:solidFill>
              <a:srgbClr val="30D98A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81EC82-5972-451A-ACFD-5A9ECE5D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578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18"/>
          </a:solidFill>
          <a:ln xmlns:a="http://schemas.openxmlformats.org/drawingml/2006/main" w="0">
            <a:solidFill>
              <a:srgbClr val="0B1018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0D9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0D98A"/>
                </a:solidFill>
                <a:latin typeface="Aptos"/>
                <a:ea typeface="Aptos"/>
                <a:cs typeface="Aptos"/>
              </a:rPr>
              <a:t>SAVE TIME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FF2593E-2B3B-43D4-AE18-4542988FE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181600"/>
            <a:ext cx="1504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18"/>
          </a:solidFill>
          <a:ln xmlns:a="http://schemas.openxmlformats.org/drawingml/2006/main" w="9525">
            <a:solidFill>
              <a:srgbClr val="42D9F5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0009EB3-5FEB-4A6E-B497-061A8E82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2578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18"/>
          </a:solidFill>
          <a:ln xmlns:a="http://schemas.openxmlformats.org/drawingml/2006/main" w="0">
            <a:solidFill>
              <a:srgbClr val="0B1018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2D9F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2D9F5"/>
                </a:solidFill>
                <a:latin typeface="Aptos"/>
                <a:ea typeface="Aptos"/>
                <a:cs typeface="Aptos"/>
              </a:rPr>
              <a:t>AUTOMATE WORK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7F3E0DC-3C39-4BC8-81A8-8BBDB9C3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181600"/>
            <a:ext cx="1581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18"/>
          </a:solidFill>
          <a:ln xmlns:a="http://schemas.openxmlformats.org/drawingml/2006/main" w="9525">
            <a:solidFill>
              <a:srgbClr val="F7B955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59D124B-9928-43B8-AD8B-493C8A23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257800"/>
            <a:ext cx="1314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18"/>
          </a:solidFill>
          <a:ln xmlns:a="http://schemas.openxmlformats.org/drawingml/2006/main" w="0">
            <a:solidFill>
              <a:srgbClr val="0B1018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B95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7B955"/>
                </a:solidFill>
                <a:latin typeface="Aptos"/>
                <a:ea typeface="Aptos"/>
                <a:cs typeface="Aptos"/>
              </a:rPr>
              <a:t>REDUCE FRICTION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C04F4D2-F219-4456-A6BF-EACE45CE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18160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18"/>
          </a:solidFill>
          <a:ln xmlns:a="http://schemas.openxmlformats.org/drawingml/2006/main" w="9525">
            <a:solidFill>
              <a:srgbClr val="30D98A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0CA742F-D637-40DF-AAB6-DF0DB3A5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257800"/>
            <a:ext cx="1162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18"/>
          </a:solidFill>
          <a:ln xmlns:a="http://schemas.openxmlformats.org/drawingml/2006/main" w="0">
            <a:solidFill>
              <a:srgbClr val="0B1018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0D9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0D98A"/>
                </a:solidFill>
                <a:latin typeface="Aptos"/>
                <a:ea typeface="Aptos"/>
                <a:cs typeface="Aptos"/>
              </a:rPr>
              <a:t>INCREASE SPEED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05436B0-AB6C-49BE-9940-CFAA360CC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181600"/>
            <a:ext cx="1504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18"/>
          </a:solidFill>
          <a:ln xmlns:a="http://schemas.openxmlformats.org/drawingml/2006/main" w="9525">
            <a:solidFill>
              <a:srgbClr val="42D9F5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9FC2BB8-F45E-45A8-83E3-875E6078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2578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18"/>
          </a:solidFill>
          <a:ln xmlns:a="http://schemas.openxmlformats.org/drawingml/2006/main" w="0">
            <a:solidFill>
              <a:srgbClr val="0B1018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2D9F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2D9F5"/>
                </a:solidFill>
                <a:latin typeface="Aptos"/>
                <a:ea typeface="Aptos"/>
                <a:cs typeface="Aptos"/>
              </a:rPr>
              <a:t>IMPROVE QUALITY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A177306-6712-467B-81C3-5FCAA980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181600"/>
            <a:ext cx="1181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18"/>
          </a:solidFill>
          <a:ln xmlns:a="http://schemas.openxmlformats.org/drawingml/2006/main" w="9525">
            <a:solidFill>
              <a:srgbClr val="F7B955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B7422EB-8B46-46DF-BD18-BB50F3ED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25780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18"/>
          </a:solidFill>
          <a:ln xmlns:a="http://schemas.openxmlformats.org/drawingml/2006/main" w="0">
            <a:solidFill>
              <a:srgbClr val="0B1018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B95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7B955"/>
                </a:solidFill>
                <a:latin typeface="Aptos"/>
                <a:ea typeface="Aptos"/>
                <a:cs typeface="Aptos"/>
              </a:rPr>
              <a:t>LOWER COST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8FFC927-1B4F-4175-9B92-2A6F0D0E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F"/>
          </a:solidFill>
          <a:ln xmlns:a="http://schemas.openxmlformats.org/drawingml/2006/main" w="0">
            <a:solidFill>
              <a:srgbClr val="070A0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FlowOps HQ | OpenAI x Outskill AI Builders Hackathon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0A7ACFB-B730-4584-BF75-F5CED988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F"/>
          </a:solidFill>
          <a:ln xmlns:a="http://schemas.openxmlformats.org/drawingml/2006/main" w="0">
            <a:solidFill>
              <a:srgbClr val="070A0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24606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2A6AC4-71F3-4835-A730-DBE539C8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F"/>
          </a:solidFill>
          <a:ln xmlns:a="http://schemas.openxmlformats.org/drawingml/2006/main" w="9525">
            <a:solidFill>
              <a:srgbClr val="070A0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9918FD-BEEF-48C3-958C-2430E951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D98A"/>
          </a:solidFill>
          <a:ln xmlns:a="http://schemas.openxmlformats.org/drawingml/2006/main" w="9525">
            <a:solidFill>
              <a:srgbClr val="30D98A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806BD5-2495-4D8A-86A1-AB62BD36B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72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F"/>
          </a:solidFill>
          <a:ln xmlns:a="http://schemas.openxmlformats.org/drawingml/2006/main" w="0">
            <a:solidFill>
              <a:srgbClr val="070A0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0D9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0D98A"/>
                </a:solidFill>
                <a:latin typeface="Aptos"/>
                <a:ea typeface="Aptos"/>
                <a:cs typeface="Aptos"/>
              </a:rPr>
              <a:t>TECH STACK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A58C27-5A0C-4BF0-98EF-05B1E955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7810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F"/>
          </a:solidFill>
          <a:ln xmlns:a="http://schemas.openxmlformats.org/drawingml/2006/main" w="0">
            <a:solidFill>
              <a:srgbClr val="070A0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A full-stack AI gateway with observability, cache, and optimizer layers.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00CFCD-E031-4059-991C-EB198072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2385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20"/>
          </a:solidFill>
          <a:ln xmlns:a="http://schemas.openxmlformats.org/drawingml/2006/main" w="9525">
            <a:solidFill>
              <a:srgbClr val="24324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747182-5223-425C-9276-226FDA3B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20"/>
          </a:solidFill>
          <a:ln xmlns:a="http://schemas.openxmlformats.org/drawingml/2006/main" w="0">
            <a:solidFill>
              <a:srgbClr val="0D1520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2D9F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2D9F5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54F488-5834-424D-AC8F-ADF3C385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336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9F5"/>
          </a:solidFill>
          <a:ln xmlns:a="http://schemas.openxmlformats.org/drawingml/2006/main" w="9525">
            <a:solidFill>
              <a:srgbClr val="42D9F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B17DF7-09F7-4735-845E-11610C8BF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479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20"/>
          </a:solidFill>
          <a:ln xmlns:a="http://schemas.openxmlformats.org/drawingml/2006/main" w="0">
            <a:solidFill>
              <a:srgbClr val="0D1520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React 19 + Vite dashboard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350B96-20F4-4837-AF8C-EC1D6A36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95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9F5"/>
          </a:solidFill>
          <a:ln xmlns:a="http://schemas.openxmlformats.org/drawingml/2006/main" w="9525">
            <a:solidFill>
              <a:srgbClr val="42D9F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4BEADF-5145-4418-A886-87864CE1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099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20"/>
          </a:solidFill>
          <a:ln xmlns:a="http://schemas.openxmlformats.org/drawingml/2006/main" w="0">
            <a:solidFill>
              <a:srgbClr val="0D1520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Tailwind CSS interface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9D2423-299A-4851-881D-83646051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575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9F5"/>
          </a:solidFill>
          <a:ln xmlns:a="http://schemas.openxmlformats.org/drawingml/2006/main" w="9525">
            <a:solidFill>
              <a:srgbClr val="42D9F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9E6BC2-AC67-4E67-8A4A-5EAEEE18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718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20"/>
          </a:solidFill>
          <a:ln xmlns:a="http://schemas.openxmlformats.org/drawingml/2006/main" w="0">
            <a:solidFill>
              <a:srgbClr val="0D1520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React Query data fetching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1E0A7E-D67A-4D73-B45A-FE1FCCC7B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95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9F5"/>
          </a:solidFill>
          <a:ln xmlns:a="http://schemas.openxmlformats.org/drawingml/2006/main" w="9525">
            <a:solidFill>
              <a:srgbClr val="42D9F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684FFB-15E4-49BA-889A-3E61DD621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338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20"/>
          </a:solidFill>
          <a:ln xmlns:a="http://schemas.openxmlformats.org/drawingml/2006/main" w="0">
            <a:solidFill>
              <a:srgbClr val="0D1520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Zustand app state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2AD14E-9212-4A85-A046-B3F5844D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814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9F5"/>
          </a:solidFill>
          <a:ln xmlns:a="http://schemas.openxmlformats.org/drawingml/2006/main" w="9525">
            <a:solidFill>
              <a:srgbClr val="42D9F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EC73D3-3F6D-4F99-9CD9-1A143AB4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20"/>
          </a:solidFill>
          <a:ln xmlns:a="http://schemas.openxmlformats.org/drawingml/2006/main" w="0">
            <a:solidFill>
              <a:srgbClr val="0D1520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Recharts analytics views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03A249-5714-4204-AFE7-0C1B08DA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43100"/>
            <a:ext cx="32385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20"/>
          </a:solidFill>
          <a:ln xmlns:a="http://schemas.openxmlformats.org/drawingml/2006/main" w="9525">
            <a:solidFill>
              <a:srgbClr val="24324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7F1872-8B23-4495-B008-244290B1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717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20"/>
          </a:solidFill>
          <a:ln xmlns:a="http://schemas.openxmlformats.org/drawingml/2006/main" w="0">
            <a:solidFill>
              <a:srgbClr val="0D1520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0D98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0D98A"/>
                </a:solidFill>
                <a:latin typeface="Aptos"/>
                <a:ea typeface="Aptos"/>
                <a:cs typeface="Aptos"/>
              </a:rPr>
              <a:t>Backend and infra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12B5FE-E4A8-430A-AFAA-11228EBC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336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D98A"/>
          </a:solidFill>
          <a:ln xmlns:a="http://schemas.openxmlformats.org/drawingml/2006/main" w="9525">
            <a:solidFill>
              <a:srgbClr val="30D98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3FA984-1B67-4EBE-9093-F1F81BFF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479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20"/>
          </a:solidFill>
          <a:ln xmlns:a="http://schemas.openxmlformats.org/drawingml/2006/main" w="0">
            <a:solidFill>
              <a:srgbClr val="0D1520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Node.js + Express API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E22689-C7BE-4C11-BFB8-3D69F293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95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D98A"/>
          </a:solidFill>
          <a:ln xmlns:a="http://schemas.openxmlformats.org/drawingml/2006/main" w="9525">
            <a:solidFill>
              <a:srgbClr val="30D98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CC36DB-48D0-4EAF-9195-F6AE6FF7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0099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20"/>
          </a:solidFill>
          <a:ln xmlns:a="http://schemas.openxmlformats.org/drawingml/2006/main" w="0">
            <a:solidFill>
              <a:srgbClr val="0D1520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PostgreSQL + Drizzle ORM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0F6025-7AFB-48EB-8CB2-F97EC46D0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4575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D98A"/>
          </a:solidFill>
          <a:ln xmlns:a="http://schemas.openxmlformats.org/drawingml/2006/main" w="9525">
            <a:solidFill>
              <a:srgbClr val="30D98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5D2E79-C2CC-4C9E-8F98-A46A3B60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3718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20"/>
          </a:solidFill>
          <a:ln xmlns:a="http://schemas.openxmlformats.org/drawingml/2006/main" w="0">
            <a:solidFill>
              <a:srgbClr val="0D1520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Redis cache and token budget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77DD48-0E0B-454B-9069-119BA57C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8195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D98A"/>
          </a:solidFill>
          <a:ln xmlns:a="http://schemas.openxmlformats.org/drawingml/2006/main" w="9525">
            <a:solidFill>
              <a:srgbClr val="30D98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01D676-E716-4C17-BB15-D736B2BA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338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20"/>
          </a:solidFill>
          <a:ln xmlns:a="http://schemas.openxmlformats.org/drawingml/2006/main" w="0">
            <a:solidFill>
              <a:srgbClr val="0D1520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BullMQ worker processors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4D96ED-C26D-4864-93ED-AB1661C4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1814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D98A"/>
          </a:solidFill>
          <a:ln xmlns:a="http://schemas.openxmlformats.org/drawingml/2006/main" w="9525">
            <a:solidFill>
              <a:srgbClr val="30D98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58CF4A-66F2-4722-891B-40D1571B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0957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20"/>
          </a:solidFill>
          <a:ln xmlns:a="http://schemas.openxmlformats.org/drawingml/2006/main" w="0">
            <a:solidFill>
              <a:srgbClr val="0D1520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Docker Compose deployment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2D739B-F5EE-4605-9AEB-62053E49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43100"/>
            <a:ext cx="32385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20"/>
          </a:solidFill>
          <a:ln xmlns:a="http://schemas.openxmlformats.org/drawingml/2006/main" w="9525">
            <a:solidFill>
              <a:srgbClr val="24324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E3336F-8CCF-4BA9-99D8-C8D1FBA0B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717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20"/>
          </a:solidFill>
          <a:ln xmlns:a="http://schemas.openxmlformats.org/drawingml/2006/main" w="0">
            <a:solidFill>
              <a:srgbClr val="0D1520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B95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B955"/>
                </a:solidFill>
                <a:latin typeface="Aptos"/>
                <a:ea typeface="Aptos"/>
                <a:cs typeface="Aptos"/>
              </a:rPr>
              <a:t>AI gateway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10BF2E-1441-4E77-905D-93288493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336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955"/>
          </a:solidFill>
          <a:ln xmlns:a="http://schemas.openxmlformats.org/drawingml/2006/main" w="9525">
            <a:solidFill>
              <a:srgbClr val="F7B955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06159B-748C-4D16-BF78-87890BEDA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479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20"/>
          </a:solidFill>
          <a:ln xmlns:a="http://schemas.openxmlformats.org/drawingml/2006/main" w="0">
            <a:solidFill>
              <a:srgbClr val="0D1520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OpenAI, Gemini, Anthropic routing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96F34C-0FF4-4E8B-8BE0-2D463683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95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955"/>
          </a:solidFill>
          <a:ln xmlns:a="http://schemas.openxmlformats.org/drawingml/2006/main" w="9525">
            <a:solidFill>
              <a:srgbClr val="F7B955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F4914C-B3C1-4C0B-98AB-370A2294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099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20"/>
          </a:solidFill>
          <a:ln xmlns:a="http://schemas.openxmlformats.org/drawingml/2006/main" w="0">
            <a:solidFill>
              <a:srgbClr val="0D1520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Retry and provider fallback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6B71FD-E0D9-45D1-9F0C-CC002B34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575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955"/>
          </a:solidFill>
          <a:ln xmlns:a="http://schemas.openxmlformats.org/drawingml/2006/main" w="9525">
            <a:solidFill>
              <a:srgbClr val="F7B955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74ADF6-671D-449B-BF5B-0FEFA5F8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718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20"/>
          </a:solidFill>
          <a:ln xmlns:a="http://schemas.openxmlformats.org/drawingml/2006/main" w="0">
            <a:solidFill>
              <a:srgbClr val="0D1520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Weighted load balancing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88DFE1-D8C6-467A-9A32-111DDD7B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95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955"/>
          </a:solidFill>
          <a:ln xmlns:a="http://schemas.openxmlformats.org/drawingml/2006/main" w="9525">
            <a:solidFill>
              <a:srgbClr val="F7B955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BD6FC09-6EDA-4670-BD50-0B8C91FA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338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20"/>
          </a:solidFill>
          <a:ln xmlns:a="http://schemas.openxmlformats.org/drawingml/2006/main" w="0">
            <a:solidFill>
              <a:srgbClr val="0D1520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Hashed API key vault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31C9CF9-0B33-4ED0-8186-3B92F404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814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955"/>
          </a:solidFill>
          <a:ln xmlns:a="http://schemas.openxmlformats.org/drawingml/2006/main" w="9525">
            <a:solidFill>
              <a:srgbClr val="F7B955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C124F33-0FBB-4C69-83FA-F6DBC2D5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957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20"/>
          </a:solidFill>
          <a:ln xmlns:a="http://schemas.openxmlformats.org/drawingml/2006/main" w="0">
            <a:solidFill>
              <a:srgbClr val="0D1520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Codex/OpenAI Prompt Optimizer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8C9CC08-6961-4379-BAF4-6E651B91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363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9525">
            <a:solidFill>
              <a:srgbClr val="2A3A55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89062E2-2703-4D8F-AFF4-ABAF3FF3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57800"/>
            <a:ext cx="971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2"/>
          </a:solidFill>
          <a:ln xmlns:a="http://schemas.openxmlformats.org/drawingml/2006/main" w="0">
            <a:solidFill>
              <a:srgbClr val="101722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Codex integration: verbose prompts are compressed with GPT-4o-mini before routing, helping reduce token usage and cost while preserving intent.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7A4BFFA-A9EF-4E77-8055-3DD9844E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F"/>
          </a:solidFill>
          <a:ln xmlns:a="http://schemas.openxmlformats.org/drawingml/2006/main" w="0">
            <a:solidFill>
              <a:srgbClr val="070A0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FlowOps HQ | OpenAI x Outskill AI Builders Hackathon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1559996-36FA-44D4-B152-9731BC412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F"/>
          </a:solidFill>
          <a:ln xmlns:a="http://schemas.openxmlformats.org/drawingml/2006/main" w="0">
            <a:solidFill>
              <a:srgbClr val="070A0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3114065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69D029-0FCD-481E-891C-EC879DD9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F"/>
          </a:solidFill>
          <a:ln xmlns:a="http://schemas.openxmlformats.org/drawingml/2006/main" w="9525">
            <a:solidFill>
              <a:srgbClr val="070A0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F0AF4C-1B5C-4BCB-84E2-C542E9BA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955"/>
          </a:solidFill>
          <a:ln xmlns:a="http://schemas.openxmlformats.org/drawingml/2006/main" w="9525">
            <a:solidFill>
              <a:srgbClr val="F7B95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D3E9F8-72D2-4713-9B47-08C63DE9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72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F"/>
          </a:solidFill>
          <a:ln xmlns:a="http://schemas.openxmlformats.org/drawingml/2006/main" w="0">
            <a:solidFill>
              <a:srgbClr val="070A0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7B95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7B955"/>
                </a:solidFill>
                <a:latin typeface="Aptos"/>
                <a:ea typeface="Aptos"/>
                <a:cs typeface="Aptos"/>
              </a:rPr>
              <a:t>TARGET AUDIENCE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297313-D6A3-4913-8909-924AF510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7810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F"/>
          </a:solidFill>
          <a:ln xmlns:a="http://schemas.openxmlformats.org/drawingml/2006/main" w="0">
            <a:solidFill>
              <a:srgbClr val="070A0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Built for Indian builders who need production AI without enterprise friction.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90868E-02BD-47CA-AC21-4F84FCF4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8768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20"/>
          </a:solidFill>
          <a:ln xmlns:a="http://schemas.openxmlformats.org/drawingml/2006/main" w="9525">
            <a:solidFill>
              <a:srgbClr val="24324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E4B0E2-ED6F-44F1-97DE-9F8424A0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762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D98A"/>
          </a:solidFill>
          <a:ln xmlns:a="http://schemas.openxmlformats.org/drawingml/2006/main" w="9525">
            <a:solidFill>
              <a:srgbClr val="30D98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9F8E9A-FF8A-4144-97E3-AA29A2B3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20"/>
          </a:solidFill>
          <a:ln xmlns:a="http://schemas.openxmlformats.org/drawingml/2006/main" w="0">
            <a:solidFill>
              <a:srgbClr val="0D1520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Indian SaaS startups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BBFE93-4AA6-4974-B1CF-D0057758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86050"/>
            <a:ext cx="400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20"/>
          </a:solidFill>
          <a:ln xmlns:a="http://schemas.openxmlformats.org/drawingml/2006/main" w="0">
            <a:solidFill>
              <a:srgbClr val="0D1520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Need reliable LLM features, cost controls, and quick integration.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425CC5-C118-4B87-B219-C4BC190E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48768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20"/>
          </a:solidFill>
          <a:ln xmlns:a="http://schemas.openxmlformats.org/drawingml/2006/main" w="9525">
            <a:solidFill>
              <a:srgbClr val="24324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874738-AEA3-48EF-8760-82784922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762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9F5"/>
          </a:solidFill>
          <a:ln xmlns:a="http://schemas.openxmlformats.org/drawingml/2006/main" w="9525">
            <a:solidFill>
              <a:srgbClr val="42D9F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520B91-6661-42D9-85DB-167321963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2410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20"/>
          </a:solidFill>
          <a:ln xmlns:a="http://schemas.openxmlformats.org/drawingml/2006/main" w="0">
            <a:solidFill>
              <a:srgbClr val="0D1520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AI agencies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823C8F-7112-4DC8-92A6-DFCB866B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86050"/>
            <a:ext cx="400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20"/>
          </a:solidFill>
          <a:ln xmlns:a="http://schemas.openxmlformats.org/drawingml/2006/main" w="0">
            <a:solidFill>
              <a:srgbClr val="0D1520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Manage multiple client AI apps, keys, logs, and provider bills.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3372C9-2EF9-4018-8417-A7CEC69C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48768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20"/>
          </a:solidFill>
          <a:ln xmlns:a="http://schemas.openxmlformats.org/drawingml/2006/main" w="9525">
            <a:solidFill>
              <a:srgbClr val="24324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F3C01F-431C-412C-B232-C545EE5B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762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955"/>
          </a:solidFill>
          <a:ln xmlns:a="http://schemas.openxmlformats.org/drawingml/2006/main" w="9525">
            <a:solidFill>
              <a:srgbClr val="F7B95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CB9056-5C71-4389-87A8-7590630C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20"/>
          </a:solidFill>
          <a:ln xmlns:a="http://schemas.openxmlformats.org/drawingml/2006/main" w="0">
            <a:solidFill>
              <a:srgbClr val="0D1520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Indie hackers and hackathon teams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434C67-7661-435F-BF03-B6F0166D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0"/>
            <a:ext cx="400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20"/>
          </a:solidFill>
          <a:ln xmlns:a="http://schemas.openxmlformats.org/drawingml/2006/main" w="0">
            <a:solidFill>
              <a:srgbClr val="0D1520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Need to ship MVPs fast without building infra from scratch.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DEB6D8-03AB-4F63-BCBC-FE2B0516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86200"/>
            <a:ext cx="48768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20"/>
          </a:solidFill>
          <a:ln xmlns:a="http://schemas.openxmlformats.org/drawingml/2006/main" w="9525">
            <a:solidFill>
              <a:srgbClr val="24324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6F086A-B07C-4EC7-8368-CE1C392B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86200"/>
            <a:ext cx="762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9525">
            <a:solidFill>
              <a:srgbClr val="FF6B6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1DCADA-6B74-412F-AC7E-73B5DE84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1480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20"/>
          </a:solidFill>
          <a:ln xmlns:a="http://schemas.openxmlformats.org/drawingml/2006/main" w="0">
            <a:solidFill>
              <a:srgbClr val="0D1520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Small engineering teams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EC0B55-47A4-4ECA-9942-69F377D5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76750"/>
            <a:ext cx="400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20"/>
          </a:solidFill>
          <a:ln xmlns:a="http://schemas.openxmlformats.org/drawingml/2006/main" w="0">
            <a:solidFill>
              <a:srgbClr val="0D1520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Need observability, fallback, and quality controls before scaling.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6058B6-D6D8-4B97-B99C-E86529C3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F"/>
          </a:solidFill>
          <a:ln xmlns:a="http://schemas.openxmlformats.org/drawingml/2006/main" w="0">
            <a:solidFill>
              <a:srgbClr val="070A0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B95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B955"/>
                </a:solidFill>
                <a:latin typeface="Aptos"/>
                <a:ea typeface="Aptos"/>
                <a:cs typeface="Aptos"/>
              </a:rPr>
              <a:t>Positioning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027CCE-2F59-4F1E-A29C-082201D5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914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F"/>
          </a:solidFill>
          <a:ln xmlns:a="http://schemas.openxmlformats.org/drawingml/2006/main" w="0">
            <a:solidFill>
              <a:srgbClr val="070A0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A cheaper, faster, India-first alternative to complex AI gateway platforms: one place to route, observe, optimize, and improve LLM apps.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CF3F0C-9894-49A9-BC0A-F7073BEB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F"/>
          </a:solidFill>
          <a:ln xmlns:a="http://schemas.openxmlformats.org/drawingml/2006/main" w="0">
            <a:solidFill>
              <a:srgbClr val="070A0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FlowOps HQ | OpenAI x Outskill AI Builders Hackathon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8A2C21-CD53-427E-9FDF-E08F322BB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F"/>
          </a:solidFill>
          <a:ln xmlns:a="http://schemas.openxmlformats.org/drawingml/2006/main" w="0">
            <a:solidFill>
              <a:srgbClr val="070A0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063930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2026-05-28T18:02:37.6200000Z</dcterms:created>
  <dcterms:modified xsi:type="dcterms:W3CDTF">2026-05-28T18:02:37.6200000Z</dcterms:modified>
</coreProperties>
</file>