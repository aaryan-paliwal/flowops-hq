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notesMasters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2.xml" ContentType="application/vnd.openxmlformats-officedocument.presentationml.slideLayout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d823c3d81bc64b0d" /><Relationship Type="http://schemas.openxmlformats.org/officeDocument/2006/relationships/extended-properties" Target="/docProps/app.xml" Id="Rf10005c1a1844113" /><Relationship Type="http://schemas.openxmlformats.org/officeDocument/2006/relationships/officeDocument" Target="/ppt/presentation.xml" Id="R79690f056f964443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4fabbcaf95204916"/>
  </p:sldMasterIdLst>
  <p:notesMasterIdLst>
    <p:notesMasterId xmlns:r="http://schemas.openxmlformats.org/officeDocument/2006/relationships" r:id="R3991cf6db16847ea"/>
  </p:notesMasterIdLst>
  <p:sldIdLst>
    <p:sldId xmlns:r="http://schemas.openxmlformats.org/officeDocument/2006/relationships" id="256" r:id="R7c728d115f534853"/>
    <p:sldId xmlns:r="http://schemas.openxmlformats.org/officeDocument/2006/relationships" id="257" r:id="R1b3a6baf979e40e2"/>
    <p:sldId xmlns:r="http://schemas.openxmlformats.org/officeDocument/2006/relationships" id="258" r:id="R617330d95df34bac"/>
    <p:sldId xmlns:r="http://schemas.openxmlformats.org/officeDocument/2006/relationships" id="259" r:id="Ree96ac7b5d754f7c"/>
    <p:sldId xmlns:r="http://schemas.openxmlformats.org/officeDocument/2006/relationships" id="260" r:id="R950956e924f3457c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fabbcaf95204916" /><Relationship Type="http://schemas.openxmlformats.org/officeDocument/2006/relationships/theme" Target="/ppt/theme/theme1.xml" Id="R6157946690c249ff" /><Relationship Type="http://schemas.openxmlformats.org/officeDocument/2006/relationships/notesMaster" Target="/ppt/notesMasters/notesMaster1.xml" Id="R3991cf6db16847ea" /><Relationship Type="http://schemas.openxmlformats.org/officeDocument/2006/relationships/presProps" Target="/ppt/presProps.xml" Id="Rb2925e5f973549c4" /><Relationship Type="http://schemas.openxmlformats.org/officeDocument/2006/relationships/viewProps" Target="/ppt/viewProps.xml" Id="R090556b7c1364dce" /><Relationship Type="http://schemas.openxmlformats.org/officeDocument/2006/relationships/tableStyles" Target="/ppt/tableStyles.xml" Id="Ra14a504de1b94ed6" /><Relationship Type="http://schemas.openxmlformats.org/officeDocument/2006/relationships/slide" Target="/ppt/slides/slide1.xml" Id="R7c728d115f534853" /><Relationship Type="http://schemas.openxmlformats.org/officeDocument/2006/relationships/slide" Target="/ppt/slides/slide2.xml" Id="R1b3a6baf979e40e2" /><Relationship Type="http://schemas.openxmlformats.org/officeDocument/2006/relationships/slide" Target="/ppt/slides/slide3.xml" Id="R617330d95df34bac" /><Relationship Type="http://schemas.openxmlformats.org/officeDocument/2006/relationships/slide" Target="/ppt/slides/slide4.xml" Id="Ree96ac7b5d754f7c" /><Relationship Type="http://schemas.openxmlformats.org/officeDocument/2006/relationships/slide" Target="/ppt/slides/slide5.xml" Id="R950956e924f3457c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2.xml" Id="Rf747985bf14f429b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4b7154c0f6d4480f" /><Relationship Type="http://schemas.openxmlformats.org/officeDocument/2006/relationships/notesMaster" Target="/ppt/notesMasters/notesMaster1.xml" Id="Rc64429601e0c4f02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f4612bdee069487d" /><Relationship Type="http://schemas.openxmlformats.org/officeDocument/2006/relationships/notesMaster" Target="/ppt/notesMasters/notesMaster1.xml" Id="R0fc2a349a9124c46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a330002ff95b41b3" /><Relationship Type="http://schemas.openxmlformats.org/officeDocument/2006/relationships/notesMaster" Target="/ppt/notesMasters/notesMaster1.xml" Id="R99b8ea9b4ab4490f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2399714e3e3444b7" /><Relationship Type="http://schemas.openxmlformats.org/officeDocument/2006/relationships/notesMaster" Target="/ppt/notesMasters/notesMaster1.xml" Id="Ra4b471f977694f76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0cdaafc4e8ef4ae3" /><Relationship Type="http://schemas.openxmlformats.org/officeDocument/2006/relationships/notesMaster" Target="/ppt/notesMasters/notesMaster1.xml" Id="R6f559edeb51f48e1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9fb11a4414d4132" /></Relationships>
</file>

<file path=ppt/slideLayouts/slideLayout2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theme/theme1.xml" Id="R549006fc123f4d25" /><Relationship Type="http://schemas.openxmlformats.org/officeDocument/2006/relationships/slideLayout" Target="/ppt/slideLayouts/slideLayout2.xml" Id="R9085b0fb9ffe4d0a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9085b0fb9ffe4d0a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96dbaea705984322" /><Relationship Type="http://schemas.openxmlformats.org/officeDocument/2006/relationships/notesSlide" Target="/ppt/notesSlides/notesSlide1.xml" Id="Rf2f507e99b1d487e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533a85b9380b4ab1" /><Relationship Type="http://schemas.openxmlformats.org/officeDocument/2006/relationships/notesSlide" Target="/ppt/notesSlides/notesSlide2.xml" Id="R08657180d34b4ac0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85df923aeed44015" /><Relationship Type="http://schemas.openxmlformats.org/officeDocument/2006/relationships/notesSlide" Target="/ppt/notesSlides/notesSlide3.xml" Id="R8ef17082ce0046d2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d4008e23688043f9" /><Relationship Type="http://schemas.openxmlformats.org/officeDocument/2006/relationships/notesSlide" Target="/ppt/notesSlides/notesSlide4.xml" Id="Rc8406afdeeb64463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3d32416b1b324c96" /><Relationship Type="http://schemas.openxmlformats.org/officeDocument/2006/relationships/notesSlide" Target="/ppt/notesSlides/notesSlide5.xml" Id="Rf80d813c6dec4158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510CC21-6DE0-49BF-B394-BF09CF1350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70A"/>
          </a:solidFill>
          <a:ln xmlns:a="http://schemas.openxmlformats.org/drawingml/2006/main" w="0">
            <a:solidFill>
              <a:srgbClr val="05070A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177CA86-C61E-4FDB-8D87-6C790B0392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38150"/>
            <a:ext cx="2476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D5F5"/>
          </a:solidFill>
          <a:ln xmlns:a="http://schemas.openxmlformats.org/drawingml/2006/main" w="0">
            <a:solidFill>
              <a:srgbClr val="38D5F5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74F2275-E020-4305-A772-AFCA5003D3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61950"/>
            <a:ext cx="3048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70A"/>
          </a:solidFill>
          <a:ln xmlns:a="http://schemas.openxmlformats.org/drawingml/2006/main" w="0">
            <a:solidFill>
              <a:srgbClr val="05070A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38D5F5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38D5F5"/>
                </a:solidFill>
                <a:latin typeface="Aptos"/>
                <a:ea typeface="Aptos"/>
                <a:cs typeface="Aptos"/>
              </a:rPr>
              <a:t>INTRODUCTION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D8C8822-B536-40E4-94C6-A01D1EFCF2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05550"/>
            <a:ext cx="4000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70A"/>
          </a:solidFill>
          <a:ln xmlns:a="http://schemas.openxmlformats.org/drawingml/2006/main" w="0">
            <a:solidFill>
              <a:srgbClr val="05070A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27089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27089"/>
                </a:solidFill>
                <a:latin typeface="Aptos"/>
                <a:ea typeface="Aptos"/>
                <a:cs typeface="Aptos"/>
              </a:rPr>
              <a:t>FlowOps HQ | OpenAI x Outskill AI Builders Hackathon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D36CADC-0EE7-4FC7-8FA5-1FDF44F3AC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305550"/>
            <a:ext cx="5143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70A"/>
          </a:solidFill>
          <a:ln xmlns:a="http://schemas.openxmlformats.org/drawingml/2006/main" w="0">
            <a:solidFill>
              <a:srgbClr val="05070A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27089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27089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09323F2-1645-4F1C-B8AF-84DEF5C1F9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85800"/>
            <a:ext cx="40005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70A"/>
          </a:solidFill>
          <a:ln xmlns:a="http://schemas.openxmlformats.org/drawingml/2006/main" w="0">
            <a:solidFill>
              <a:srgbClr val="05070A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38D5F5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38D5F5"/>
                </a:solidFill>
                <a:latin typeface="Aptos"/>
                <a:ea typeface="Aptos"/>
                <a:cs typeface="Aptos"/>
              </a:rPr>
              <a:t>FLOWOPS HQ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F19E2B4-2F65-4527-AECD-8109190976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200150"/>
            <a:ext cx="7239000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70A"/>
          </a:solidFill>
          <a:ln xmlns:a="http://schemas.openxmlformats.org/drawingml/2006/main" w="0">
            <a:solidFill>
              <a:srgbClr val="05070A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4125" b="1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4125" b="1">
                <a:solidFill>
                  <a:srgbClr val="F8FAFC"/>
                </a:solidFill>
                <a:latin typeface="Aptos"/>
                <a:ea typeface="Aptos"/>
                <a:cs typeface="Aptos"/>
              </a:rPr>
              <a:t>The India-first AI control plane for faster, cheaper LLM apps.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8C04BC3-F79F-493C-8EA7-B78039365C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705100"/>
            <a:ext cx="75247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70A"/>
          </a:solidFill>
          <a:ln xmlns:a="http://schemas.openxmlformats.org/drawingml/2006/main" w="0">
            <a:solidFill>
              <a:srgbClr val="05070A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AEB7C8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AEB7C8"/>
                </a:solidFill>
                <a:latin typeface="Aptos"/>
                <a:ea typeface="Aptos"/>
                <a:cs typeface="Aptos"/>
              </a:rPr>
              <a:t>FlowOps HQ helps builders route prompts, manage keys, observe cost and latency, and reduce token waste with a Codex-powered prompt optimizer.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2DF957A-25E8-491B-B7E2-0624DBD834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1047750"/>
            <a:ext cx="2514600" cy="3467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1019"/>
          </a:solidFill>
          <a:ln xmlns:a="http://schemas.openxmlformats.org/drawingml/2006/main" w="9525">
            <a:solidFill>
              <a:srgbClr val="26364D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AB3BF49-B814-4553-845B-89B8AA77A7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1466850"/>
            <a:ext cx="17145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1019"/>
          </a:solidFill>
          <a:ln xmlns:a="http://schemas.openxmlformats.org/drawingml/2006/main" w="0">
            <a:solidFill>
              <a:srgbClr val="081019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F8FAFC"/>
                </a:solidFill>
                <a:latin typeface="Aptos"/>
                <a:ea typeface="Aptos"/>
                <a:cs typeface="Aptos"/>
              </a:rPr>
              <a:t>BUILD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54CAC0C-82D1-4F8D-8280-4E274B6D3F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266950"/>
            <a:ext cx="17145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1019"/>
          </a:solidFill>
          <a:ln xmlns:a="http://schemas.openxmlformats.org/drawingml/2006/main" w="0">
            <a:solidFill>
              <a:srgbClr val="081019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F8FAFC"/>
                </a:solidFill>
                <a:latin typeface="Aptos"/>
                <a:ea typeface="Aptos"/>
                <a:cs typeface="Aptos"/>
              </a:rPr>
              <a:t>SHIP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5928EA3-CE96-43F6-BB4E-5CB569EEC5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067050"/>
            <a:ext cx="18097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1019"/>
          </a:solidFill>
          <a:ln xmlns:a="http://schemas.openxmlformats.org/drawingml/2006/main" w="0">
            <a:solidFill>
              <a:srgbClr val="081019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F8FAFC"/>
                </a:solidFill>
                <a:latin typeface="Aptos"/>
                <a:ea typeface="Aptos"/>
                <a:cs typeface="Aptos"/>
              </a:rPr>
              <a:t>OPTIMIZE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4D6D635-663D-40D0-93E1-56CCD7EECB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1733550"/>
            <a:ext cx="18097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D5F5"/>
          </a:solidFill>
          <a:ln xmlns:a="http://schemas.openxmlformats.org/drawingml/2006/main" w="0">
            <a:solidFill>
              <a:srgbClr val="38D5F5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61BBAD5-D2B6-4B9C-BA6E-F06CC191D3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2533650"/>
            <a:ext cx="18097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3E39A"/>
          </a:solidFill>
          <a:ln xmlns:a="http://schemas.openxmlformats.org/drawingml/2006/main" w="0">
            <a:solidFill>
              <a:srgbClr val="33E39A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D41D667-59FC-47BE-8DAB-45D2C62373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3333750"/>
            <a:ext cx="18097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BC55"/>
          </a:solidFill>
          <a:ln xmlns:a="http://schemas.openxmlformats.org/drawingml/2006/main" w="0">
            <a:solidFill>
              <a:srgbClr val="F8BC55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7E7CD3D-960C-4A24-9725-B310DF14D9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0"/>
            <a:ext cx="16192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70A"/>
          </a:solidFill>
          <a:ln xmlns:a="http://schemas.openxmlformats.org/drawingml/2006/main" w="0">
            <a:solidFill>
              <a:srgbClr val="05070A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38D5F5"/>
                </a:solidFill>
                <a:latin typeface="Aptos"/>
                <a:ea typeface="Aptos"/>
                <a:cs typeface="Aptos"/>
              </a:defRPr>
            </a:pPr>
            <a:r>
              <a:rPr sz="3150" b="1">
                <a:solidFill>
                  <a:srgbClr val="38D5F5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4561FF8-1781-44FB-BF36-5E96980FA9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514850"/>
            <a:ext cx="16954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70A"/>
          </a:solidFill>
          <a:ln xmlns:a="http://schemas.openxmlformats.org/drawingml/2006/main" w="0">
            <a:solidFill>
              <a:srgbClr val="05070A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AEB7C8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AEB7C8"/>
                </a:solidFill>
                <a:latin typeface="Aptos"/>
                <a:ea typeface="Aptos"/>
                <a:cs typeface="Aptos"/>
              </a:rPr>
              <a:t>gateway for OpenAI, Gemini, Anthropic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57BA6B5-1907-4073-86F8-876EE9696A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4000500"/>
            <a:ext cx="16192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70A"/>
          </a:solidFill>
          <a:ln xmlns:a="http://schemas.openxmlformats.org/drawingml/2006/main" w="0">
            <a:solidFill>
              <a:srgbClr val="05070A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33E39A"/>
                </a:solidFill>
                <a:latin typeface="Aptos"/>
                <a:ea typeface="Aptos"/>
                <a:cs typeface="Aptos"/>
              </a:defRPr>
            </a:pPr>
            <a:r>
              <a:rPr sz="3150" b="1">
                <a:solidFill>
                  <a:srgbClr val="33E39A"/>
                </a:solidFill>
                <a:latin typeface="Aptos"/>
                <a:ea typeface="Aptos"/>
                <a:cs typeface="Aptos"/>
              </a:rPr>
              <a:t>&lt;5m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5188BFD-F153-4393-B935-751BD7885B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4514850"/>
            <a:ext cx="16954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70A"/>
          </a:solidFill>
          <a:ln xmlns:a="http://schemas.openxmlformats.org/drawingml/2006/main" w="0">
            <a:solidFill>
              <a:srgbClr val="05070A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AEB7C8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AEB7C8"/>
                </a:solidFill>
                <a:latin typeface="Aptos"/>
                <a:ea typeface="Aptos"/>
                <a:cs typeface="Aptos"/>
              </a:rPr>
              <a:t>target setup for builders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D6FA48E-C851-4D3E-B9DF-FA12680E91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4000500"/>
            <a:ext cx="16192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70A"/>
          </a:solidFill>
          <a:ln xmlns:a="http://schemas.openxmlformats.org/drawingml/2006/main" w="0">
            <a:solidFill>
              <a:srgbClr val="05070A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F8BC55"/>
                </a:solidFill>
                <a:latin typeface="Aptos"/>
                <a:ea typeface="Aptos"/>
                <a:cs typeface="Aptos"/>
              </a:defRPr>
            </a:pPr>
            <a:r>
              <a:rPr sz="3150" b="1">
                <a:solidFill>
                  <a:srgbClr val="F8BC55"/>
                </a:solidFill>
                <a:latin typeface="Aptos"/>
                <a:ea typeface="Aptos"/>
                <a:cs typeface="Aptos"/>
              </a:rPr>
              <a:t>INR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D7966F4-5CE6-4A40-9CDA-66652536C1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4514850"/>
            <a:ext cx="16954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70A"/>
          </a:solidFill>
          <a:ln xmlns:a="http://schemas.openxmlformats.org/drawingml/2006/main" w="0">
            <a:solidFill>
              <a:srgbClr val="05070A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AEB7C8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AEB7C8"/>
                </a:solidFill>
                <a:latin typeface="Aptos"/>
                <a:ea typeface="Aptos"/>
                <a:cs typeface="Aptos"/>
              </a:rPr>
              <a:t>cost-first positioning for India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FF3EA9B-588F-46A4-9476-6631D3D41C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772150"/>
            <a:ext cx="3429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70A"/>
          </a:solidFill>
          <a:ln xmlns:a="http://schemas.openxmlformats.org/drawingml/2006/main" w="0">
            <a:solidFill>
              <a:srgbClr val="05070A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AEB7C8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AEB7C8"/>
                </a:solidFill>
                <a:latin typeface="Aptos"/>
                <a:ea typeface="Aptos"/>
                <a:cs typeface="Aptos"/>
              </a:rPr>
              <a:t>Phase 1 MVP + Product Scope</a:t>
            </a:r>
          </a:p>
        </p:txBody>
      </p:sp>
    </p:spTree>
    <p:extLst>
      <p:ext uri="{BB962C8B-B14F-4D97-AF65-F5344CB8AC3E}">
        <p14:creationId xmlns:p14="http://schemas.microsoft.com/office/powerpoint/2010/main" val="283318903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B62E008-0ACA-4F57-B971-786F795226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70A"/>
          </a:solidFill>
          <a:ln xmlns:a="http://schemas.openxmlformats.org/drawingml/2006/main" w="0">
            <a:solidFill>
              <a:srgbClr val="05070A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44FA153-AF20-4B11-9785-F3271A7EFA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38150"/>
            <a:ext cx="2476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F73"/>
          </a:solidFill>
          <a:ln xmlns:a="http://schemas.openxmlformats.org/drawingml/2006/main" w="0">
            <a:solidFill>
              <a:srgbClr val="FF6F73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0E57A1F-93CF-4BCC-9B7B-1CB6BBE746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61950"/>
            <a:ext cx="3048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70A"/>
          </a:solidFill>
          <a:ln xmlns:a="http://schemas.openxmlformats.org/drawingml/2006/main" w="0">
            <a:solidFill>
              <a:srgbClr val="05070A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FF6F73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FF6F73"/>
                </a:solidFill>
                <a:latin typeface="Aptos"/>
                <a:ea typeface="Aptos"/>
                <a:cs typeface="Aptos"/>
              </a:rPr>
              <a:t>PROBLEM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9697E6E-B3E6-4EDE-A2A2-4868C70F22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05550"/>
            <a:ext cx="4000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70A"/>
          </a:solidFill>
          <a:ln xmlns:a="http://schemas.openxmlformats.org/drawingml/2006/main" w="0">
            <a:solidFill>
              <a:srgbClr val="05070A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27089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27089"/>
                </a:solidFill>
                <a:latin typeface="Aptos"/>
                <a:ea typeface="Aptos"/>
                <a:cs typeface="Aptos"/>
              </a:rPr>
              <a:t>FlowOps HQ | OpenAI x Outskill AI Builders Hackathon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2F8B341-A848-4C7D-BD5B-ADAF909D2F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305550"/>
            <a:ext cx="5143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70A"/>
          </a:solidFill>
          <a:ln xmlns:a="http://schemas.openxmlformats.org/drawingml/2006/main" w="0">
            <a:solidFill>
              <a:srgbClr val="05070A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27089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27089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7BE1FCE-43D5-4E9D-87F7-EF51A4EA63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81050"/>
            <a:ext cx="8096250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70A"/>
          </a:solidFill>
          <a:ln xmlns:a="http://schemas.openxmlformats.org/drawingml/2006/main" w="0">
            <a:solidFill>
              <a:srgbClr val="05070A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3600" b="1">
                <a:solidFill>
                  <a:srgbClr val="F8FAFC"/>
                </a:solidFill>
                <a:latin typeface="Aptos"/>
                <a:ea typeface="Aptos"/>
                <a:cs typeface="Aptos"/>
              </a:rPr>
              <a:t>AI startups are hand-building infrastructure instead of shipping product.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BC6A105-D2EB-4DCD-A009-75EB514DE4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057400"/>
            <a:ext cx="77152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70A"/>
          </a:solidFill>
          <a:ln xmlns:a="http://schemas.openxmlformats.org/drawingml/2006/main" w="0">
            <a:solidFill>
              <a:srgbClr val="05070A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AEB7C8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AEB7C8"/>
                </a:solidFill>
                <a:latin typeface="Aptos"/>
                <a:ea typeface="Aptos"/>
                <a:cs typeface="Aptos"/>
              </a:rPr>
              <a:t>Every production LLM app needs routing, key safety, retries, logging, cost control, and quality checks. Most small teams rebuild this badly or skip it entirely.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5CB92F1-AC89-4555-B493-65946AFA48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181350"/>
            <a:ext cx="2286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70A"/>
          </a:solidFill>
          <a:ln xmlns:a="http://schemas.openxmlformats.org/drawingml/2006/main" w="0">
            <a:solidFill>
              <a:srgbClr val="05070A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FF6F73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FF6F73"/>
                </a:solidFill>
                <a:latin typeface="Aptos"/>
                <a:ea typeface="Aptos"/>
                <a:cs typeface="Aptos"/>
              </a:rPr>
              <a:t>WHAT BREAKS TODAY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349C55E-6C0D-4FB8-8E8F-D31D94FFC1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62902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F73"/>
          </a:solidFill>
          <a:ln xmlns:a="http://schemas.openxmlformats.org/drawingml/2006/main" w="0">
            <a:solidFill>
              <a:srgbClr val="FF6F73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0B9A17D-6819-4ABC-97DD-A89C3DE8F7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543300"/>
            <a:ext cx="47434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70A"/>
          </a:solidFill>
          <a:ln xmlns:a="http://schemas.openxmlformats.org/drawingml/2006/main" w="0">
            <a:solidFill>
              <a:srgbClr val="05070A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AEB7C8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AEB7C8"/>
                </a:solidFill>
                <a:latin typeface="Aptos"/>
                <a:ea typeface="Aptos"/>
                <a:cs typeface="Aptos"/>
              </a:rPr>
              <a:t>Provider APIs are fragmented across OpenAI, Gemini, Anthropic, and others.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5172F6F-174B-4493-8A2C-6C22F3C215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20052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F73"/>
          </a:solidFill>
          <a:ln xmlns:a="http://schemas.openxmlformats.org/drawingml/2006/main" w="0">
            <a:solidFill>
              <a:srgbClr val="FF6F73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3339EB0-8E00-4928-B23A-38E397D21C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114800"/>
            <a:ext cx="47434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70A"/>
          </a:solidFill>
          <a:ln xmlns:a="http://schemas.openxmlformats.org/drawingml/2006/main" w="0">
            <a:solidFill>
              <a:srgbClr val="05070A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AEB7C8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AEB7C8"/>
                </a:solidFill>
                <a:latin typeface="Aptos"/>
                <a:ea typeface="Aptos"/>
                <a:cs typeface="Aptos"/>
              </a:rPr>
              <a:t>Token spend rises silently because prompts and models are not optimized.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78354BF-8D49-430B-BD1D-93C171F000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77202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F73"/>
          </a:solidFill>
          <a:ln xmlns:a="http://schemas.openxmlformats.org/drawingml/2006/main" w="0">
            <a:solidFill>
              <a:srgbClr val="FF6F73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6BAC41D-30FC-462E-A482-80B19D774D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686300"/>
            <a:ext cx="47434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70A"/>
          </a:solidFill>
          <a:ln xmlns:a="http://schemas.openxmlformats.org/drawingml/2006/main" w="0">
            <a:solidFill>
              <a:srgbClr val="05070A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AEB7C8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AEB7C8"/>
                </a:solidFill>
                <a:latin typeface="Aptos"/>
                <a:ea typeface="Aptos"/>
                <a:cs typeface="Aptos"/>
              </a:rPr>
              <a:t>Failures are handled after the incident, not before the user feels it.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01C8EFF-4D00-44E3-BD6F-CF42A09992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3105150"/>
            <a:ext cx="3962400" cy="2133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21B"/>
          </a:solidFill>
          <a:ln xmlns:a="http://schemas.openxmlformats.org/drawingml/2006/main" w="9525">
            <a:solidFill>
              <a:srgbClr val="2A3548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8685908-E1BD-483F-B70E-324682807A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3390900"/>
            <a:ext cx="1714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21B"/>
          </a:solidFill>
          <a:ln xmlns:a="http://schemas.openxmlformats.org/drawingml/2006/main" w="0">
            <a:solidFill>
              <a:srgbClr val="0B121B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F6F73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F6F73"/>
                </a:solidFill>
                <a:latin typeface="Aptos"/>
                <a:ea typeface="Aptos"/>
                <a:cs typeface="Aptos"/>
              </a:rPr>
              <a:t>WITHOUT FLOWOPS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21FEB1B-75E6-4F0A-B6A7-23C094873B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3733800"/>
            <a:ext cx="295275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21B"/>
          </a:solidFill>
          <a:ln xmlns:a="http://schemas.openxmlformats.org/drawingml/2006/main" w="0">
            <a:solidFill>
              <a:srgbClr val="0B121B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1950" b="1">
                <a:solidFill>
                  <a:srgbClr val="F8FAFC"/>
                </a:solidFill>
                <a:latin typeface="Aptos"/>
                <a:ea typeface="Aptos"/>
                <a:cs typeface="Aptos"/>
              </a:rPr>
              <a:t>App code turns into gateway logic.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1860D3B-A16A-425C-BF9D-B549910EA3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4457700"/>
            <a:ext cx="29527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21B"/>
          </a:solidFill>
          <a:ln xmlns:a="http://schemas.openxmlformats.org/drawingml/2006/main" w="0">
            <a:solidFill>
              <a:srgbClr val="0B121B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AEB7C8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AEB7C8"/>
                </a:solidFill>
                <a:latin typeface="Aptos"/>
                <a:ea typeface="Aptos"/>
                <a:cs typeface="Aptos"/>
              </a:rPr>
              <a:t>Teams hardcode fallback, scatter keys, debug blind, and discover cost leaks too late.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4E103CC-641C-4EB0-9EF8-E6B45119AF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600700"/>
            <a:ext cx="8382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70A"/>
          </a:solidFill>
          <a:ln xmlns:a="http://schemas.openxmlformats.org/drawingml/2006/main" w="0">
            <a:solidFill>
              <a:srgbClr val="05070A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2025" b="1">
                <a:solidFill>
                  <a:srgbClr val="F8FAFC"/>
                </a:solidFill>
                <a:latin typeface="Aptos"/>
                <a:ea typeface="Aptos"/>
                <a:cs typeface="Aptos"/>
              </a:rPr>
              <a:t>The Indian market needs a simpler, cheaper, faster AI ops layer.</a:t>
            </a:r>
          </a:p>
        </p:txBody>
      </p:sp>
    </p:spTree>
    <p:extLst>
      <p:ext uri="{BB962C8B-B14F-4D97-AF65-F5344CB8AC3E}">
        <p14:creationId xmlns:p14="http://schemas.microsoft.com/office/powerpoint/2010/main" val="529781842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BC02294-2A0B-418A-9555-1807EFAA91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70A"/>
          </a:solidFill>
          <a:ln xmlns:a="http://schemas.openxmlformats.org/drawingml/2006/main" w="0">
            <a:solidFill>
              <a:srgbClr val="05070A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A20E83B-C0C0-46EA-BCED-D5F0C66A0D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38150"/>
            <a:ext cx="2476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3E39A"/>
          </a:solidFill>
          <a:ln xmlns:a="http://schemas.openxmlformats.org/drawingml/2006/main" w="0">
            <a:solidFill>
              <a:srgbClr val="33E39A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E4D0CF2-F098-4560-8A52-D5F148E663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61950"/>
            <a:ext cx="3048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70A"/>
          </a:solidFill>
          <a:ln xmlns:a="http://schemas.openxmlformats.org/drawingml/2006/main" w="0">
            <a:solidFill>
              <a:srgbClr val="05070A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33E39A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33E39A"/>
                </a:solidFill>
                <a:latin typeface="Aptos"/>
                <a:ea typeface="Aptos"/>
                <a:cs typeface="Aptos"/>
              </a:rPr>
              <a:t>SOLUTION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71E03A1-344B-4AB5-AAFE-F104A99BD5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05550"/>
            <a:ext cx="4000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70A"/>
          </a:solidFill>
          <a:ln xmlns:a="http://schemas.openxmlformats.org/drawingml/2006/main" w="0">
            <a:solidFill>
              <a:srgbClr val="05070A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27089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27089"/>
                </a:solidFill>
                <a:latin typeface="Aptos"/>
                <a:ea typeface="Aptos"/>
                <a:cs typeface="Aptos"/>
              </a:rPr>
              <a:t>FlowOps HQ | OpenAI x Outskill AI Builders Hackathon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CCF3092-7235-4AC0-99B7-F70B56AA39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305550"/>
            <a:ext cx="5143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70A"/>
          </a:solidFill>
          <a:ln xmlns:a="http://schemas.openxmlformats.org/drawingml/2006/main" w="0">
            <a:solidFill>
              <a:srgbClr val="05070A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27089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27089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53488B5-3052-4130-9B5C-0CEFDB2CFF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81050"/>
            <a:ext cx="8382000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70A"/>
          </a:solidFill>
          <a:ln xmlns:a="http://schemas.openxmlformats.org/drawingml/2006/main" w="0">
            <a:solidFill>
              <a:srgbClr val="05070A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3600" b="1">
                <a:solidFill>
                  <a:srgbClr val="F8FAFC"/>
                </a:solidFill>
                <a:latin typeface="Aptos"/>
                <a:ea typeface="Aptos"/>
                <a:cs typeface="Aptos"/>
              </a:rPr>
              <a:t>One gateway turns messy LLM operations into a managed workflow.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27FAB80-2D64-41E3-93C7-87FDF851B9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171700"/>
            <a:ext cx="7239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70A"/>
          </a:solidFill>
          <a:ln xmlns:a="http://schemas.openxmlformats.org/drawingml/2006/main" w="0">
            <a:solidFill>
              <a:srgbClr val="05070A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AEB7C8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AEB7C8"/>
                </a:solidFill>
                <a:latin typeface="Aptos"/>
                <a:ea typeface="Aptos"/>
                <a:cs typeface="Aptos"/>
              </a:rPr>
              <a:t>Developers keep the familiar chat-completions request. FlowOps handles the operational layer around it.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E427CCF-B6E8-4A67-901C-932BF1DE9E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162300"/>
            <a:ext cx="1676400" cy="1676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21B"/>
          </a:solidFill>
          <a:ln xmlns:a="http://schemas.openxmlformats.org/drawingml/2006/main" w="9525">
            <a:solidFill>
              <a:srgbClr val="293449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5B01424-E8A0-4BD5-B0B1-6F9D3FC57E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390900"/>
            <a:ext cx="476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21B"/>
          </a:solidFill>
          <a:ln xmlns:a="http://schemas.openxmlformats.org/drawingml/2006/main" w="0">
            <a:solidFill>
              <a:srgbClr val="0B121B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38D5F5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38D5F5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E26A227-2A1F-45D4-8A1B-9D97032ABB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810000"/>
            <a:ext cx="1143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21B"/>
          </a:solidFill>
          <a:ln xmlns:a="http://schemas.openxmlformats.org/drawingml/2006/main" w="0">
            <a:solidFill>
              <a:srgbClr val="0B121B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F8FAFC"/>
                </a:solidFill>
                <a:latin typeface="Aptos"/>
                <a:ea typeface="Aptos"/>
                <a:cs typeface="Aptos"/>
              </a:rPr>
              <a:t>Connect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D7F8BAB-866C-4F98-8376-AD70AE9ED0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152900"/>
            <a:ext cx="12382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21B"/>
          </a:solidFill>
          <a:ln xmlns:a="http://schemas.openxmlformats.org/drawingml/2006/main" w="0">
            <a:solidFill>
              <a:srgbClr val="0B121B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AEB7C8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AEB7C8"/>
                </a:solidFill>
                <a:latin typeface="Aptos"/>
                <a:ea typeface="Aptos"/>
                <a:cs typeface="Aptos"/>
              </a:rPr>
              <a:t>Create workspace and generate a FlowOps key.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1BA6998-2555-4260-A64D-BA5E0CB131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3943350"/>
            <a:ext cx="3238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44157"/>
          </a:solidFill>
          <a:ln xmlns:a="http://schemas.openxmlformats.org/drawingml/2006/main" w="0">
            <a:solidFill>
              <a:srgbClr val="344157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A6B423A-B2AB-41DE-BBBF-7E44F3979C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3886200"/>
            <a:ext cx="95250" cy="142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44157"/>
          </a:solidFill>
          <a:ln xmlns:a="http://schemas.openxmlformats.org/drawingml/2006/main" w="0">
            <a:solidFill>
              <a:srgbClr val="344157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C5AA6B8-651B-4964-B922-E196219DFD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5100" y="3162300"/>
            <a:ext cx="1676400" cy="1676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2730"/>
          </a:solidFill>
          <a:ln xmlns:a="http://schemas.openxmlformats.org/drawingml/2006/main" w="9525">
            <a:solidFill>
              <a:srgbClr val="33E39A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42D3F6F-15F6-49C5-9272-D707EBB295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3390900"/>
            <a:ext cx="476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2730"/>
          </a:solidFill>
          <a:ln xmlns:a="http://schemas.openxmlformats.org/drawingml/2006/main" w="0">
            <a:solidFill>
              <a:srgbClr val="0E2730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33E39A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33E39A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E8FD288-01EC-4CBE-B063-4BD4F4A362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3810000"/>
            <a:ext cx="1143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2730"/>
          </a:solidFill>
          <a:ln xmlns:a="http://schemas.openxmlformats.org/drawingml/2006/main" w="0">
            <a:solidFill>
              <a:srgbClr val="0E2730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F8FAFC"/>
                </a:solidFill>
                <a:latin typeface="Aptos"/>
                <a:ea typeface="Aptos"/>
                <a:cs typeface="Aptos"/>
              </a:rPr>
              <a:t>Optimize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174AC9A-CF73-419A-9D69-32CFB2F374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4152900"/>
            <a:ext cx="12382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2730"/>
          </a:solidFill>
          <a:ln xmlns:a="http://schemas.openxmlformats.org/drawingml/2006/main" w="0">
            <a:solidFill>
              <a:srgbClr val="0E2730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AEB7C8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AEB7C8"/>
                </a:solidFill>
                <a:latin typeface="Aptos"/>
                <a:ea typeface="Aptos"/>
                <a:cs typeface="Aptos"/>
              </a:rPr>
              <a:t>Compress verbose prompts with Codex/OpenAI.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F9C40C1-8CC6-42BB-B650-771CF8EF50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943350"/>
            <a:ext cx="3238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44157"/>
          </a:solidFill>
          <a:ln xmlns:a="http://schemas.openxmlformats.org/drawingml/2006/main" w="0">
            <a:solidFill>
              <a:srgbClr val="344157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85D8366-7652-497D-9445-89B650B73F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3886200"/>
            <a:ext cx="95250" cy="142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44157"/>
          </a:solidFill>
          <a:ln xmlns:a="http://schemas.openxmlformats.org/drawingml/2006/main" w="0">
            <a:solidFill>
              <a:srgbClr val="344157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0BFBBF2-6E1A-4632-A839-736F549EA8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3162300"/>
            <a:ext cx="1676400" cy="1676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21B"/>
          </a:solidFill>
          <a:ln xmlns:a="http://schemas.openxmlformats.org/drawingml/2006/main" w="9525">
            <a:solidFill>
              <a:srgbClr val="293449"/>
            </a:solidFill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1C790D7-7E31-431B-93D4-BDBAC438DC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3390900"/>
            <a:ext cx="476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21B"/>
          </a:solidFill>
          <a:ln xmlns:a="http://schemas.openxmlformats.org/drawingml/2006/main" w="0">
            <a:solidFill>
              <a:srgbClr val="0B121B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38D5F5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38D5F5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25A0BFF-D65F-42FF-A286-0EC48CED45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3810000"/>
            <a:ext cx="1143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21B"/>
          </a:solidFill>
          <a:ln xmlns:a="http://schemas.openxmlformats.org/drawingml/2006/main" w="0">
            <a:solidFill>
              <a:srgbClr val="0B121B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F8FAFC"/>
                </a:solidFill>
                <a:latin typeface="Aptos"/>
                <a:ea typeface="Aptos"/>
                <a:cs typeface="Aptos"/>
              </a:rPr>
              <a:t>Route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8043654-DB2E-49DD-8B67-54A6C0B1B7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4152900"/>
            <a:ext cx="12382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21B"/>
          </a:solidFill>
          <a:ln xmlns:a="http://schemas.openxmlformats.org/drawingml/2006/main" w="0">
            <a:solidFill>
              <a:srgbClr val="0B121B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AEB7C8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AEB7C8"/>
                </a:solidFill>
                <a:latin typeface="Aptos"/>
                <a:ea typeface="Aptos"/>
                <a:cs typeface="Aptos"/>
              </a:rPr>
              <a:t>Send to OpenAI, Gemini, or Anthropic.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EC4BAC2-CF06-485F-8DC3-CCC514BEFD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3943350"/>
            <a:ext cx="3238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44157"/>
          </a:solidFill>
          <a:ln xmlns:a="http://schemas.openxmlformats.org/drawingml/2006/main" w="0">
            <a:solidFill>
              <a:srgbClr val="344157"/>
            </a:solidFill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D88A5A2-354A-4BFF-8144-23A6A66A9F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3886200"/>
            <a:ext cx="95250" cy="142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44157"/>
          </a:solidFill>
          <a:ln xmlns:a="http://schemas.openxmlformats.org/drawingml/2006/main" w="0">
            <a:solidFill>
              <a:srgbClr val="344157"/>
            </a:solidFill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1DB1FF3-1DEE-450A-8259-B446CC4635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3162300"/>
            <a:ext cx="1676400" cy="1676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21B"/>
          </a:solidFill>
          <a:ln xmlns:a="http://schemas.openxmlformats.org/drawingml/2006/main" w="9525">
            <a:solidFill>
              <a:srgbClr val="293449"/>
            </a:solidFill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19218C3-D8DF-42FD-B00E-74C6798CF8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3390900"/>
            <a:ext cx="476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21B"/>
          </a:solidFill>
          <a:ln xmlns:a="http://schemas.openxmlformats.org/drawingml/2006/main" w="0">
            <a:solidFill>
              <a:srgbClr val="0B121B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38D5F5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38D5F5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A80CCA6-5E70-4631-8FF4-384E2B5C7A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3810000"/>
            <a:ext cx="1143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21B"/>
          </a:solidFill>
          <a:ln xmlns:a="http://schemas.openxmlformats.org/drawingml/2006/main" w="0">
            <a:solidFill>
              <a:srgbClr val="0B121B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F8FAFC"/>
                </a:solidFill>
                <a:latin typeface="Aptos"/>
                <a:ea typeface="Aptos"/>
                <a:cs typeface="Aptos"/>
              </a:rPr>
              <a:t>Recover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52E7507-4579-4F62-87F1-6EC6BE238B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4152900"/>
            <a:ext cx="12382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21B"/>
          </a:solidFill>
          <a:ln xmlns:a="http://schemas.openxmlformats.org/drawingml/2006/main" w="0">
            <a:solidFill>
              <a:srgbClr val="0B121B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AEB7C8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AEB7C8"/>
                </a:solidFill>
                <a:latin typeface="Aptos"/>
                <a:ea typeface="Aptos"/>
                <a:cs typeface="Aptos"/>
              </a:rPr>
              <a:t>Retry and fallback when providers fail.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3959B12-9AE3-43EC-8E77-BF8F24DDAE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3943350"/>
            <a:ext cx="3238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44157"/>
          </a:solidFill>
          <a:ln xmlns:a="http://schemas.openxmlformats.org/drawingml/2006/main" w="0">
            <a:solidFill>
              <a:srgbClr val="344157"/>
            </a:solidFill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E90EA39B-3881-408A-AF1C-3D2FCC00EB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3886200"/>
            <a:ext cx="95250" cy="142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44157"/>
          </a:solidFill>
          <a:ln xmlns:a="http://schemas.openxmlformats.org/drawingml/2006/main" w="0">
            <a:solidFill>
              <a:srgbClr val="344157"/>
            </a:solidFill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CF1E07E2-CC23-40EA-AE7D-C02D91892D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3162300"/>
            <a:ext cx="1676400" cy="1676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21B"/>
          </a:solidFill>
          <a:ln xmlns:a="http://schemas.openxmlformats.org/drawingml/2006/main" w="9525">
            <a:solidFill>
              <a:srgbClr val="293449"/>
            </a:solidFill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42EA0598-E566-43EA-AE73-E11D6505E7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3390900"/>
            <a:ext cx="476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21B"/>
          </a:solidFill>
          <a:ln xmlns:a="http://schemas.openxmlformats.org/drawingml/2006/main" w="0">
            <a:solidFill>
              <a:srgbClr val="0B121B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38D5F5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38D5F5"/>
                </a:solidFill>
                <a:latin typeface="Aptos"/>
                <a:ea typeface="Aptos"/>
                <a:cs typeface="Aptos"/>
              </a:rPr>
              <a:t>05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B5991695-C69A-4BD9-82AC-685AB1E71A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3810000"/>
            <a:ext cx="1143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21B"/>
          </a:solidFill>
          <a:ln xmlns:a="http://schemas.openxmlformats.org/drawingml/2006/main" w="0">
            <a:solidFill>
              <a:srgbClr val="0B121B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F8FAFC"/>
                </a:solidFill>
                <a:latin typeface="Aptos"/>
                <a:ea typeface="Aptos"/>
                <a:cs typeface="Aptos"/>
              </a:rPr>
              <a:t>Observe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20A87FB5-A4C2-4DC0-A013-BA8A7F3784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4152900"/>
            <a:ext cx="12382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21B"/>
          </a:solidFill>
          <a:ln xmlns:a="http://schemas.openxmlformats.org/drawingml/2006/main" w="0">
            <a:solidFill>
              <a:srgbClr val="0B121B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AEB7C8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AEB7C8"/>
                </a:solidFill>
                <a:latin typeface="Aptos"/>
                <a:ea typeface="Aptos"/>
                <a:cs typeface="Aptos"/>
              </a:rPr>
              <a:t>Track tokens, latency, errors, cache, cost.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38E34F51-F4BF-43A3-96DC-28B1017863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219700"/>
            <a:ext cx="96202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151F"/>
          </a:solidFill>
          <a:ln xmlns:a="http://schemas.openxmlformats.org/drawingml/2006/main" w="9525">
            <a:solidFill>
              <a:srgbClr val="2B3950"/>
            </a:solidFill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0105C459-DA6F-4D4B-B7A9-C67AF5ADA1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448300"/>
            <a:ext cx="952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70A"/>
          </a:solidFill>
          <a:ln xmlns:a="http://schemas.openxmlformats.org/drawingml/2006/main" w="0">
            <a:solidFill>
              <a:srgbClr val="05070A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33E39A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33E39A"/>
                </a:solidFill>
                <a:latin typeface="Aptos"/>
                <a:ea typeface="Aptos"/>
                <a:cs typeface="Aptos"/>
              </a:rPr>
              <a:t>MVP PROOF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BC858D6D-17E5-47D0-ACC2-02DEC2683C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5950" y="5372100"/>
            <a:ext cx="7620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151F"/>
          </a:solidFill>
          <a:ln xmlns:a="http://schemas.openxmlformats.org/drawingml/2006/main" w="0">
            <a:solidFill>
              <a:srgbClr val="0D151F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F8FAFC"/>
                </a:solidFill>
                <a:latin typeface="Aptos"/>
                <a:ea typeface="Aptos"/>
                <a:cs typeface="Aptos"/>
              </a:rPr>
              <a:t>Active endpoint: POST /gateway/v1/chat/completions with API keys, provider routing, retry/fallback, logs, analytics, and optimizer header.</a:t>
            </a:r>
          </a:p>
        </p:txBody>
      </p:sp>
    </p:spTree>
    <p:extLst>
      <p:ext uri="{BB962C8B-B14F-4D97-AF65-F5344CB8AC3E}">
        <p14:creationId xmlns:p14="http://schemas.microsoft.com/office/powerpoint/2010/main" val="1406560952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878907C-BE79-4C38-BDA2-FF764E3D85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70A"/>
          </a:solidFill>
          <a:ln xmlns:a="http://schemas.openxmlformats.org/drawingml/2006/main" w="0">
            <a:solidFill>
              <a:srgbClr val="05070A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C29DDDE-9425-4EBE-A67D-B9EEB22A27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38150"/>
            <a:ext cx="2476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A7FF"/>
          </a:solidFill>
          <a:ln xmlns:a="http://schemas.openxmlformats.org/drawingml/2006/main" w="0">
            <a:solidFill>
              <a:srgbClr val="B9A7FF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0B7DCB4-FDEA-4D53-9880-2D5E1EB0C7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61950"/>
            <a:ext cx="3048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70A"/>
          </a:solidFill>
          <a:ln xmlns:a="http://schemas.openxmlformats.org/drawingml/2006/main" w="0">
            <a:solidFill>
              <a:srgbClr val="05070A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B9A7FF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B9A7FF"/>
                </a:solidFill>
                <a:latin typeface="Aptos"/>
                <a:ea typeface="Aptos"/>
                <a:cs typeface="Aptos"/>
              </a:rPr>
              <a:t>STACK + CODEX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9682891-3B44-453D-B6B5-411B303378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05550"/>
            <a:ext cx="4000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70A"/>
          </a:solidFill>
          <a:ln xmlns:a="http://schemas.openxmlformats.org/drawingml/2006/main" w="0">
            <a:solidFill>
              <a:srgbClr val="05070A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27089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27089"/>
                </a:solidFill>
                <a:latin typeface="Aptos"/>
                <a:ea typeface="Aptos"/>
                <a:cs typeface="Aptos"/>
              </a:rPr>
              <a:t>FlowOps HQ | OpenAI x Outskill AI Builders Hackathon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66EEB38-E0DC-454E-9C30-5627A546F7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305550"/>
            <a:ext cx="5143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70A"/>
          </a:solidFill>
          <a:ln xmlns:a="http://schemas.openxmlformats.org/drawingml/2006/main" w="0">
            <a:solidFill>
              <a:srgbClr val="05070A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27089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27089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6AD1747-D0C2-43EE-89F3-27A2B38EE0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81050"/>
            <a:ext cx="7524750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70A"/>
          </a:solidFill>
          <a:ln xmlns:a="http://schemas.openxmlformats.org/drawingml/2006/main" w="0">
            <a:solidFill>
              <a:srgbClr val="05070A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750" b="1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3750" b="1">
                <a:solidFill>
                  <a:srgbClr val="F8FAFC"/>
                </a:solidFill>
                <a:latin typeface="Aptos"/>
                <a:ea typeface="Aptos"/>
                <a:cs typeface="Aptos"/>
              </a:rPr>
              <a:t>Built as infrastructure, not a chatbot wrapper.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51949E3-A749-4CC6-9792-4862FBE8DA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266950"/>
            <a:ext cx="3095625" cy="2209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21B"/>
          </a:solidFill>
          <a:ln xmlns:a="http://schemas.openxmlformats.org/drawingml/2006/main" w="9525">
            <a:solidFill>
              <a:srgbClr val="293449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C622B4F-CFE5-4885-8305-224FF6D050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266950"/>
            <a:ext cx="3095625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D5F5"/>
          </a:solidFill>
          <a:ln xmlns:a="http://schemas.openxmlformats.org/drawingml/2006/main" w="0">
            <a:solidFill>
              <a:srgbClr val="38D5F5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3687607-4A00-45C7-A48F-F81D787AE0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590800"/>
            <a:ext cx="2476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21B"/>
          </a:solidFill>
          <a:ln xmlns:a="http://schemas.openxmlformats.org/drawingml/2006/main" w="0">
            <a:solidFill>
              <a:srgbClr val="0B121B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38D5F5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38D5F5"/>
                </a:solidFill>
                <a:latin typeface="Aptos"/>
                <a:ea typeface="Aptos"/>
                <a:cs typeface="Aptos"/>
              </a:rPr>
              <a:t>Dashboard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85650C9-0D6B-4557-824D-43559562FC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048000"/>
            <a:ext cx="24765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21B"/>
          </a:solidFill>
          <a:ln xmlns:a="http://schemas.openxmlformats.org/drawingml/2006/main" w="0">
            <a:solidFill>
              <a:srgbClr val="0B121B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AEB7C8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AEB7C8"/>
                </a:solidFill>
                <a:latin typeface="Aptos"/>
                <a:ea typeface="Aptos"/>
                <a:cs typeface="Aptos"/>
              </a:rPr>
              <a:t>React 19, Vite, Tailwind, React Query, Zustand, Recharts. Screens for dashboard, keys, APIs, analytics, logs, docs, settings.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40D7907-CEB5-4524-9A7E-7CA2CD549F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2266950"/>
            <a:ext cx="3095625" cy="2209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21B"/>
          </a:solidFill>
          <a:ln xmlns:a="http://schemas.openxmlformats.org/drawingml/2006/main" w="9525">
            <a:solidFill>
              <a:srgbClr val="293449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0892CDE-CEFE-4E44-83D2-3D11E8F367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2266950"/>
            <a:ext cx="3095625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3E39A"/>
          </a:solidFill>
          <a:ln xmlns:a="http://schemas.openxmlformats.org/drawingml/2006/main" w="0">
            <a:solidFill>
              <a:srgbClr val="33E39A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7FD9C60-D8F6-4952-857F-7206095690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2590800"/>
            <a:ext cx="2476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21B"/>
          </a:solidFill>
          <a:ln xmlns:a="http://schemas.openxmlformats.org/drawingml/2006/main" w="0">
            <a:solidFill>
              <a:srgbClr val="0B121B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33E39A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33E39A"/>
                </a:solidFill>
                <a:latin typeface="Aptos"/>
                <a:ea typeface="Aptos"/>
                <a:cs typeface="Aptos"/>
              </a:rPr>
              <a:t>Gateway Core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C46D569-43A2-45E9-8384-380035C8BA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3048000"/>
            <a:ext cx="24765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21B"/>
          </a:solidFill>
          <a:ln xmlns:a="http://schemas.openxmlformats.org/drawingml/2006/main" w="0">
            <a:solidFill>
              <a:srgbClr val="0B121B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AEB7C8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AEB7C8"/>
                </a:solidFill>
                <a:latin typeface="Aptos"/>
                <a:ea typeface="Aptos"/>
                <a:cs typeface="Aptos"/>
              </a:rPr>
              <a:t>Node.js + Express, Drizzle ORM, PostgreSQL, Redis, BullMQ worker, JWT auth, hashed access tokens, Docker Compose.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50C7578-0B63-4F88-91BF-56CEEC6BB7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2266950"/>
            <a:ext cx="3095625" cy="2209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21B"/>
          </a:solidFill>
          <a:ln xmlns:a="http://schemas.openxmlformats.org/drawingml/2006/main" w="9525">
            <a:solidFill>
              <a:srgbClr val="293449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5E29D71-DEF9-4AAE-A76D-F2AC87A2AE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2266950"/>
            <a:ext cx="3095625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BC55"/>
          </a:solidFill>
          <a:ln xmlns:a="http://schemas.openxmlformats.org/drawingml/2006/main" w="0">
            <a:solidFill>
              <a:srgbClr val="F8BC55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8169F7D-AF22-45A5-A4F7-43AA5EE176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2590800"/>
            <a:ext cx="2476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21B"/>
          </a:solidFill>
          <a:ln xmlns:a="http://schemas.openxmlformats.org/drawingml/2006/main" w="0">
            <a:solidFill>
              <a:srgbClr val="0B121B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8BC55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F8BC55"/>
                </a:solidFill>
                <a:latin typeface="Aptos"/>
                <a:ea typeface="Aptos"/>
                <a:cs typeface="Aptos"/>
              </a:rPr>
              <a:t>AI Layer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7F3D135-FC76-49B2-8069-6D94D3151A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3048000"/>
            <a:ext cx="24765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21B"/>
          </a:solidFill>
          <a:ln xmlns:a="http://schemas.openxmlformats.org/drawingml/2006/main" w="0">
            <a:solidFill>
              <a:srgbClr val="0B121B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AEB7C8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AEB7C8"/>
                </a:solidFill>
                <a:latin typeface="Aptos"/>
                <a:ea typeface="Aptos"/>
                <a:cs typeface="Aptos"/>
              </a:rPr>
              <a:t>OpenAI, Gemini, Anthropic translators. Tier access, weighted routing, retries, fallback chain, cache, and token counting.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1C7F772-A158-4BA2-B6A5-88F65CEF57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067300"/>
            <a:ext cx="10096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824"/>
          </a:solidFill>
          <a:ln xmlns:a="http://schemas.openxmlformats.org/drawingml/2006/main" w="9525">
            <a:solidFill>
              <a:srgbClr val="314057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4B872EF-4398-4433-9DC4-ACFFDDC90B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257800"/>
            <a:ext cx="1143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70A"/>
          </a:solidFill>
          <a:ln xmlns:a="http://schemas.openxmlformats.org/drawingml/2006/main" w="0">
            <a:solidFill>
              <a:srgbClr val="05070A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B9A7FF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B9A7FF"/>
                </a:solidFill>
                <a:latin typeface="Aptos"/>
                <a:ea typeface="Aptos"/>
                <a:cs typeface="Aptos"/>
              </a:rPr>
              <a:t>CODEX USAGE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EE2D03C-DD4D-4D02-8A9E-23EE0DEE54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5200650"/>
            <a:ext cx="80962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824"/>
          </a:solidFill>
          <a:ln xmlns:a="http://schemas.openxmlformats.org/drawingml/2006/main" w="0">
            <a:solidFill>
              <a:srgbClr val="101824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F8FAFC"/>
                </a:solidFill>
                <a:latin typeface="Aptos"/>
                <a:ea typeface="Aptos"/>
                <a:cs typeface="Aptos"/>
              </a:rPr>
              <a:t>Codex helped analyze the codebase, plan the architecture, document the MVP, and shape the prompt optimizer. The product also integrates a Codex/OpenAI-powered optimizer using GPT-4o-mini to reduce token waste before routing.</a:t>
            </a:r>
          </a:p>
        </p:txBody>
      </p:sp>
    </p:spTree>
    <p:extLst>
      <p:ext uri="{BB962C8B-B14F-4D97-AF65-F5344CB8AC3E}">
        <p14:creationId xmlns:p14="http://schemas.microsoft.com/office/powerpoint/2010/main" val="1043153124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5E2167A-A841-4243-A992-902B43ADB3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70A"/>
          </a:solidFill>
          <a:ln xmlns:a="http://schemas.openxmlformats.org/drawingml/2006/main" w="0">
            <a:solidFill>
              <a:srgbClr val="05070A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F80DCCC-0A3C-4758-A046-A020447EE3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38150"/>
            <a:ext cx="2476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BC55"/>
          </a:solidFill>
          <a:ln xmlns:a="http://schemas.openxmlformats.org/drawingml/2006/main" w="0">
            <a:solidFill>
              <a:srgbClr val="F8BC55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299FB48-46B1-4C89-958F-999D7A5F1E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61950"/>
            <a:ext cx="3048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70A"/>
          </a:solidFill>
          <a:ln xmlns:a="http://schemas.openxmlformats.org/drawingml/2006/main" w="0">
            <a:solidFill>
              <a:srgbClr val="05070A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F8BC55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F8BC55"/>
                </a:solidFill>
                <a:latin typeface="Aptos"/>
                <a:ea typeface="Aptos"/>
                <a:cs typeface="Aptos"/>
              </a:rPr>
              <a:t>AUDIENCE + EDGE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CF90354-8ACE-45C5-AB46-0FDD4F8504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05550"/>
            <a:ext cx="4000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70A"/>
          </a:solidFill>
          <a:ln xmlns:a="http://schemas.openxmlformats.org/drawingml/2006/main" w="0">
            <a:solidFill>
              <a:srgbClr val="05070A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27089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27089"/>
                </a:solidFill>
                <a:latin typeface="Aptos"/>
                <a:ea typeface="Aptos"/>
                <a:cs typeface="Aptos"/>
              </a:rPr>
              <a:t>FlowOps HQ | OpenAI x Outskill AI Builders Hackathon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375C29D-EE98-4E17-ACCD-02E3815DAE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305550"/>
            <a:ext cx="5143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70A"/>
          </a:solidFill>
          <a:ln xmlns:a="http://schemas.openxmlformats.org/drawingml/2006/main" w="0">
            <a:solidFill>
              <a:srgbClr val="05070A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27089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27089"/>
                </a:solidFill>
                <a:latin typeface="Aptos"/>
                <a:ea typeface="Aptos"/>
                <a:cs typeface="Aptos"/>
              </a:rPr>
              <a:t>05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7BDA5A1-2CAF-4528-8141-03D0C57A72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81050"/>
            <a:ext cx="8096250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70A"/>
          </a:solidFill>
          <a:ln xmlns:a="http://schemas.openxmlformats.org/drawingml/2006/main" w="0">
            <a:solidFill>
              <a:srgbClr val="05070A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750" b="1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3750" b="1">
                <a:solidFill>
                  <a:srgbClr val="F8FAFC"/>
                </a:solidFill>
                <a:latin typeface="Aptos"/>
                <a:ea typeface="Aptos"/>
                <a:cs typeface="Aptos"/>
              </a:rPr>
              <a:t>FlowOps wins by being simpler, cheaper, and India-first.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F38AF01-4131-41F1-9155-5F39075DC9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286000"/>
            <a:ext cx="46482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121A"/>
          </a:solidFill>
          <a:ln xmlns:a="http://schemas.openxmlformats.org/drawingml/2006/main" w="9525">
            <a:solidFill>
              <a:srgbClr val="273244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19E8072-458E-4A2C-986E-200DCF3AB3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286000"/>
            <a:ext cx="5715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3E39A"/>
          </a:solidFill>
          <a:ln xmlns:a="http://schemas.openxmlformats.org/drawingml/2006/main" w="0">
            <a:solidFill>
              <a:srgbClr val="33E39A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71A3ED8-E1A6-4A75-AFF8-9BF27D23E0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495550"/>
            <a:ext cx="3429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121A"/>
          </a:solidFill>
          <a:ln xmlns:a="http://schemas.openxmlformats.org/drawingml/2006/main" w="0">
            <a:solidFill>
              <a:srgbClr val="0D121A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F8FAFC"/>
                </a:solidFill>
                <a:latin typeface="Aptos"/>
                <a:ea typeface="Aptos"/>
                <a:cs typeface="Aptos"/>
              </a:rPr>
              <a:t>Indian SaaS startups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B0D2B8D-29AE-4271-A4A5-F0FDB3B02A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857500"/>
            <a:ext cx="3810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121A"/>
          </a:solidFill>
          <a:ln xmlns:a="http://schemas.openxmlformats.org/drawingml/2006/main" w="0">
            <a:solidFill>
              <a:srgbClr val="0D121A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AEB7C8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AEB7C8"/>
                </a:solidFill>
                <a:latin typeface="Aptos"/>
                <a:ea typeface="Aptos"/>
                <a:cs typeface="Aptos"/>
              </a:rPr>
              <a:t>Need LLM reliability and cost control before scale.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7C12815-04CA-4504-8FFD-AC5BF2ED40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2286000"/>
            <a:ext cx="46482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121A"/>
          </a:solidFill>
          <a:ln xmlns:a="http://schemas.openxmlformats.org/drawingml/2006/main" w="9525">
            <a:solidFill>
              <a:srgbClr val="273244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C935D5A-F952-4F4D-8C1A-D53DC6CB23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2286000"/>
            <a:ext cx="5715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D5F5"/>
          </a:solidFill>
          <a:ln xmlns:a="http://schemas.openxmlformats.org/drawingml/2006/main" w="0">
            <a:solidFill>
              <a:srgbClr val="38D5F5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79D40F2-73A6-4CAA-BAC7-5A0D095578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2495550"/>
            <a:ext cx="3429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121A"/>
          </a:solidFill>
          <a:ln xmlns:a="http://schemas.openxmlformats.org/drawingml/2006/main" w="0">
            <a:solidFill>
              <a:srgbClr val="0D121A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F8FAFC"/>
                </a:solidFill>
                <a:latin typeface="Aptos"/>
                <a:ea typeface="Aptos"/>
                <a:cs typeface="Aptos"/>
              </a:rPr>
              <a:t>AI agencies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AFFB218-8EF4-4EB0-ACFC-5512DE354A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2857500"/>
            <a:ext cx="3810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121A"/>
          </a:solidFill>
          <a:ln xmlns:a="http://schemas.openxmlformats.org/drawingml/2006/main" w="0">
            <a:solidFill>
              <a:srgbClr val="0D121A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AEB7C8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AEB7C8"/>
                </a:solidFill>
                <a:latin typeface="Aptos"/>
                <a:ea typeface="Aptos"/>
                <a:cs typeface="Aptos"/>
              </a:rPr>
              <a:t>Need one place to manage client keys, logs, and spend.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C692944-A583-470B-AE54-BCA5D604FD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790950"/>
            <a:ext cx="46482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121A"/>
          </a:solidFill>
          <a:ln xmlns:a="http://schemas.openxmlformats.org/drawingml/2006/main" w="9525">
            <a:solidFill>
              <a:srgbClr val="273244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A4C7FFA-95A2-45C7-A2A1-059ACE28F0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790950"/>
            <a:ext cx="5715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BC55"/>
          </a:solidFill>
          <a:ln xmlns:a="http://schemas.openxmlformats.org/drawingml/2006/main" w="0">
            <a:solidFill>
              <a:srgbClr val="F8BC55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A9FF762-AF55-49BE-BDD1-2D4B2F8729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000500"/>
            <a:ext cx="3429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121A"/>
          </a:solidFill>
          <a:ln xmlns:a="http://schemas.openxmlformats.org/drawingml/2006/main" w="0">
            <a:solidFill>
              <a:srgbClr val="0D121A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F8FAFC"/>
                </a:solidFill>
                <a:latin typeface="Aptos"/>
                <a:ea typeface="Aptos"/>
                <a:cs typeface="Aptos"/>
              </a:rPr>
              <a:t>Indie builders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C485E7A-0217-4EB2-898A-08A71FF805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362450"/>
            <a:ext cx="3810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121A"/>
          </a:solidFill>
          <a:ln xmlns:a="http://schemas.openxmlformats.org/drawingml/2006/main" w="0">
            <a:solidFill>
              <a:srgbClr val="0D121A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AEB7C8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AEB7C8"/>
                </a:solidFill>
                <a:latin typeface="Aptos"/>
                <a:ea typeface="Aptos"/>
                <a:cs typeface="Aptos"/>
              </a:rPr>
              <a:t>Need MVP infrastructure without a platform team.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6F61883-92A8-4966-A472-26E100AC9F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3790950"/>
            <a:ext cx="46482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121A"/>
          </a:solidFill>
          <a:ln xmlns:a="http://schemas.openxmlformats.org/drawingml/2006/main" w="9525">
            <a:solidFill>
              <a:srgbClr val="273244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D67C936-32AC-499E-9A4C-331337520D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3790950"/>
            <a:ext cx="5715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F73"/>
          </a:solidFill>
          <a:ln xmlns:a="http://schemas.openxmlformats.org/drawingml/2006/main" w="0">
            <a:solidFill>
              <a:srgbClr val="FF6F73"/>
            </a:solidFill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D42FE0E-0CF7-4A46-AE13-30212C222D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4000500"/>
            <a:ext cx="3429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121A"/>
          </a:solidFill>
          <a:ln xmlns:a="http://schemas.openxmlformats.org/drawingml/2006/main" w="0">
            <a:solidFill>
              <a:srgbClr val="0D121A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F8FAFC"/>
                </a:solidFill>
                <a:latin typeface="Aptos"/>
                <a:ea typeface="Aptos"/>
                <a:cs typeface="Aptos"/>
              </a:rPr>
              <a:t>Small engineering teams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0519442-44D5-4607-BA9A-2A4C3859A0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4362450"/>
            <a:ext cx="3810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121A"/>
          </a:solidFill>
          <a:ln xmlns:a="http://schemas.openxmlformats.org/drawingml/2006/main" w="0">
            <a:solidFill>
              <a:srgbClr val="0D121A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AEB7C8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AEB7C8"/>
                </a:solidFill>
                <a:latin typeface="Aptos"/>
                <a:ea typeface="Aptos"/>
                <a:cs typeface="Aptos"/>
              </a:rPr>
              <a:t>Need fallback, observability, and quality signals fast.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8161446-3A7F-4D26-9C31-C741A856EB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219700"/>
            <a:ext cx="1009650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151F"/>
          </a:solidFill>
          <a:ln xmlns:a="http://schemas.openxmlformats.org/drawingml/2006/main" w="9525">
            <a:solidFill>
              <a:srgbClr val="2B3950"/>
            </a:solidFill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53C81A2-5620-4632-AABB-1488EDA36C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486400"/>
            <a:ext cx="1428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70A"/>
          </a:solidFill>
          <a:ln xmlns:a="http://schemas.openxmlformats.org/drawingml/2006/main" w="0">
            <a:solidFill>
              <a:srgbClr val="05070A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F8BC55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F8BC55"/>
                </a:solidFill>
                <a:latin typeface="Aptos"/>
                <a:ea typeface="Aptos"/>
                <a:cs typeface="Aptos"/>
              </a:rPr>
              <a:t>STARTUP POSITION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9CC1268-AFE1-48B4-9FB8-F708B3ABF7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5372100"/>
            <a:ext cx="76200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151F"/>
          </a:solidFill>
          <a:ln xmlns:a="http://schemas.openxmlformats.org/drawingml/2006/main" w="0">
            <a:solidFill>
              <a:srgbClr val="0D151F"/>
            </a:solidFill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F8FAFC"/>
                </a:solidFill>
                <a:latin typeface="Aptos"/>
                <a:ea typeface="Aptos"/>
                <a:cs typeface="Aptos"/>
              </a:rPr>
              <a:t>Portkey proves the category. FlowOps brings AI gateway infrastructure to Indian builders with speed, automation, lower friction, quality controls, and INR-friendly cost thinking.</a:t>
            </a:r>
          </a:p>
        </p:txBody>
      </p:sp>
    </p:spTree>
    <p:extLst>
      <p:ext uri="{BB962C8B-B14F-4D97-AF65-F5344CB8AC3E}">
        <p14:creationId xmlns:p14="http://schemas.microsoft.com/office/powerpoint/2010/main" val="124181819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2026-05-28T18:18:01.1550000Z</dcterms:created>
  <dcterms:modified xsi:type="dcterms:W3CDTF">2026-05-28T18:18:01.1560000Z</dcterms:modified>
</coreProperties>
</file>